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8" r:id="rId21"/>
    <p:sldId id="276" r:id="rId22"/>
    <p:sldId id="277" r:id="rId23"/>
    <p:sldId id="26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🏠 House Price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Predicting house prices based on various features</a:t>
            </a:r>
          </a:p>
          <a:p>
            <a:endParaRPr dirty="0"/>
          </a:p>
          <a:p>
            <a:r>
              <a:rPr dirty="0"/>
              <a:t>By: Y</a:t>
            </a:r>
            <a:r>
              <a:rPr lang="en-US" dirty="0"/>
              <a:t> Nithya </a:t>
            </a:r>
            <a:r>
              <a:rPr lang="en-US" dirty="0" err="1"/>
              <a:t>kalyani</a:t>
            </a:r>
            <a:endParaRPr lang="en-US" dirty="0"/>
          </a:p>
          <a:p>
            <a:r>
              <a:rPr lang="en-US" dirty="0"/>
              <a:t>Presidency university ,Bangalore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Predict house prices based on features like location, rooms, and area.</a:t>
            </a:r>
          </a:p>
          <a:p>
            <a:r>
              <a:t>Objectives:</a:t>
            </a:r>
          </a:p>
          <a:p>
            <a:r>
              <a:t>- Build regression models for price prediction.</a:t>
            </a:r>
          </a:p>
          <a:p>
            <a:r>
              <a:t>- Compare Linear Regression, Random Forest, and XGBoost.</a:t>
            </a:r>
          </a:p>
          <a:p>
            <a:r>
              <a:t>- Evaluate models using RMSE and R²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💾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California Housing Dataset (Scikit-learn)</a:t>
            </a:r>
          </a:p>
          <a:p>
            <a:r>
              <a:t>Rows: 20,640 | Features: 9</a:t>
            </a:r>
          </a:p>
          <a:p>
            <a:r>
              <a:t>Main Features: MedInc, AveRooms, HouseAge, Latitude, Longitude, Population</a:t>
            </a:r>
          </a:p>
          <a:p>
            <a:r>
              <a:t>Target: MedianHouseValue (scaled to USD).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🧹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Steps:</a:t>
            </a:r>
          </a:p>
          <a:p>
            <a:r>
              <a:t>- Handled missing values with median/mode imputation.</a:t>
            </a:r>
          </a:p>
          <a:p>
            <a:r>
              <a:t>- Capped outliers at 1st and 99th percentiles.</a:t>
            </a:r>
          </a:p>
          <a:p>
            <a:r>
              <a:t>- Created categorical feature 'Region' from Latitude &amp; Longitude.</a:t>
            </a:r>
          </a:p>
          <a:p>
            <a:r>
              <a:t>- Applied One-Hot Encoding and Standard Scaling.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Used:</a:t>
            </a:r>
          </a:p>
          <a:p>
            <a:r>
              <a:t>1. Linear Regression – baseline model.</a:t>
            </a:r>
          </a:p>
          <a:p>
            <a:r>
              <a:t>2. Ridge Regression – regularized model.</a:t>
            </a:r>
          </a:p>
          <a:p>
            <a:r>
              <a:t>3. Random Forest – ensemble model.</a:t>
            </a:r>
          </a:p>
          <a:p>
            <a:r>
              <a:t>4. XGBoost – gradient boosting model.</a:t>
            </a:r>
          </a:p>
          <a:p>
            <a:r>
              <a:t>Goal: Compare linear vs nonlinear and regularized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⚙️ Model Training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Used:</a:t>
            </a:r>
          </a:p>
          <a:p>
            <a:r>
              <a:t>- RMSE: Root Mean Squared Error (lower is better).</a:t>
            </a:r>
          </a:p>
          <a:p>
            <a:r>
              <a:t>- R²: Coefficient of Determination (higher is better).</a:t>
            </a:r>
          </a:p>
          <a:p>
            <a:r>
              <a:t>Trained all models and compared their performance on test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Results &amp; 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Performance (example results):</a:t>
            </a:r>
          </a:p>
          <a:p>
            <a:r>
              <a:t>• XGBoost: RMSE = 48,000, R² = 0.85</a:t>
            </a:r>
          </a:p>
          <a:p>
            <a:r>
              <a:t>• Random Forest: RMSE = 50,000, R² = 0.83</a:t>
            </a:r>
          </a:p>
          <a:p>
            <a:r>
              <a:t>• Ridge Regression: RMSE = 75,000, R² = 0.72</a:t>
            </a:r>
          </a:p>
          <a:p>
            <a:r>
              <a:t>• Linear Regression: RMSE = 78,000, R² = 0.70</a:t>
            </a:r>
          </a:p>
          <a:p>
            <a:r>
              <a:t>→ Best Model: XGBoost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Influential Features:</a:t>
            </a:r>
          </a:p>
          <a:p>
            <a:r>
              <a:t>- Median Income</a:t>
            </a:r>
          </a:p>
          <a:p>
            <a:r>
              <a:t>- Average Rooms</a:t>
            </a:r>
          </a:p>
          <a:p>
            <a:r>
              <a:t>- House Age</a:t>
            </a:r>
          </a:p>
          <a:p>
            <a:r>
              <a:t>- Latitude / Longitude</a:t>
            </a:r>
          </a:p>
          <a:p>
            <a:r>
              <a:t>Insights: Higher income &amp; coastal regions → higher prices.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📈 Model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Predicted vs Actual Price scatterplot (close to diagonal).</a:t>
            </a:r>
          </a:p>
          <a:p>
            <a:r>
              <a:t>- Residual distribution (mostly centered).</a:t>
            </a:r>
          </a:p>
          <a:p>
            <a:r>
              <a:t>- RMSE bar chart comparison.</a:t>
            </a:r>
          </a:p>
          <a:p>
            <a:r>
              <a:t>Visuals created using Matplotlib &amp; Seaborn.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💡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Income and location are the strongest predictors.</a:t>
            </a:r>
          </a:p>
          <a:p>
            <a:r>
              <a:t>- Nonlinear models outperform linear ones.</a:t>
            </a:r>
          </a:p>
          <a:p>
            <a:r>
              <a:t>- Data preprocessing improved performance significantly.</a:t>
            </a:r>
          </a:p>
          <a:p>
            <a:r>
              <a:t>- Ridge regularization improved stability of Linear Regression.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Ames Housing dataset for richer categorical analysis.</a:t>
            </a:r>
          </a:p>
          <a:p>
            <a:r>
              <a:t>- Apply Hyperparameter Tuning (GridSearchCV).</a:t>
            </a:r>
          </a:p>
          <a:p>
            <a:r>
              <a:t>- Deploy with Streamlit web app.</a:t>
            </a:r>
          </a:p>
          <a:p>
            <a:r>
              <a:t>- Explore Deep Learning models for regression.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🧰 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Programming Language: Python</a:t>
            </a:r>
          </a:p>
          <a:p>
            <a:r>
              <a:rPr dirty="0"/>
              <a:t>Libraries: Pandas, NumPy, Scikit-learn, </a:t>
            </a:r>
            <a:r>
              <a:rPr dirty="0" err="1"/>
              <a:t>XGBoost</a:t>
            </a:r>
            <a:r>
              <a:rPr dirty="0"/>
              <a:t>, Matplotlib, Seaborn</a:t>
            </a:r>
          </a:p>
          <a:p>
            <a:r>
              <a:rPr dirty="0"/>
              <a:t>Environment: </a:t>
            </a:r>
            <a:r>
              <a:rPr dirty="0" err="1"/>
              <a:t>Jupyter</a:t>
            </a:r>
            <a:r>
              <a:rPr dirty="0"/>
              <a:t> Notebook / VS Code</a:t>
            </a:r>
          </a:p>
          <a:p>
            <a:r>
              <a:rPr dirty="0"/>
              <a:t>Visualization: Matplotlib, Seaborn, PowerPoint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🏁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Built multiple regression models to predict house prices.</a:t>
            </a:r>
          </a:p>
          <a:p>
            <a:r>
              <a:t>- XGBoost achieved best accuracy (R² ≈ 0.85).</a:t>
            </a:r>
          </a:p>
          <a:p>
            <a:r>
              <a:t>- Demonstrated end-to-end ML workflow: data cleaning, feature engineering, model evaluation.</a:t>
            </a:r>
          </a:p>
          <a:p>
            <a:r>
              <a:t>✅ Machine Learning can effectively predict housing prices!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C8EB93D-DC25-575B-CE46-049CACCBA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141" y="147484"/>
            <a:ext cx="8721213" cy="6558116"/>
          </a:xfrm>
        </p:spPr>
        <p:txBody>
          <a:bodyPr>
            <a:normAutofit fontScale="40000" lnSpcReduction="20000"/>
          </a:bodyPr>
          <a:lstStyle/>
          <a:p>
            <a:r>
              <a:rPr lang="en-IN" dirty="0"/>
              <a:t># ===== House Price Prediction: California Housing (end-to-end) =====</a:t>
            </a:r>
          </a:p>
          <a:p>
            <a:r>
              <a:rPr lang="en-IN" dirty="0"/>
              <a:t># Requirements: scikit-learn, pandas, </a:t>
            </a:r>
            <a:r>
              <a:rPr lang="en-IN" dirty="0" err="1"/>
              <a:t>numpy</a:t>
            </a:r>
            <a:r>
              <a:rPr lang="en-IN" dirty="0"/>
              <a:t>, matplotlib, seaborn, </a:t>
            </a:r>
            <a:r>
              <a:rPr lang="en-IN" dirty="0" err="1"/>
              <a:t>xgboost</a:t>
            </a:r>
            <a:endParaRPr lang="en-IN" dirty="0"/>
          </a:p>
          <a:p>
            <a:r>
              <a:rPr lang="en-IN" dirty="0"/>
              <a:t># Install </a:t>
            </a:r>
            <a:r>
              <a:rPr lang="en-IN" dirty="0" err="1"/>
              <a:t>xgboost</a:t>
            </a:r>
            <a:r>
              <a:rPr lang="en-IN" dirty="0"/>
              <a:t> if not present: pip install </a:t>
            </a:r>
            <a:r>
              <a:rPr lang="en-IN" dirty="0" err="1"/>
              <a:t>xgboost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r>
              <a:rPr lang="en-IN" dirty="0"/>
              <a:t>import pandas as pd</a:t>
            </a:r>
          </a:p>
          <a:p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endParaRPr lang="en-IN" dirty="0"/>
          </a:p>
          <a:p>
            <a:r>
              <a:rPr lang="en-IN" dirty="0"/>
              <a:t>import seaborn as </a:t>
            </a:r>
            <a:r>
              <a:rPr lang="en-IN" dirty="0" err="1"/>
              <a:t>sns</a:t>
            </a:r>
            <a:endParaRPr lang="en-IN" dirty="0"/>
          </a:p>
          <a:p>
            <a:r>
              <a:rPr lang="en-IN" dirty="0"/>
              <a:t>import warnings</a:t>
            </a:r>
          </a:p>
          <a:p>
            <a:r>
              <a:rPr lang="en-IN" dirty="0" err="1"/>
              <a:t>warnings.filterwarnings</a:t>
            </a:r>
            <a:r>
              <a:rPr lang="en-IN" dirty="0"/>
              <a:t>("ignore")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sklearn.datasets</a:t>
            </a:r>
            <a:r>
              <a:rPr lang="en-IN" dirty="0"/>
              <a:t> import </a:t>
            </a:r>
            <a:r>
              <a:rPr lang="en-IN" dirty="0" err="1"/>
              <a:t>fetch_california_housing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sklearn.model_selection</a:t>
            </a:r>
            <a:r>
              <a:rPr lang="en-IN" dirty="0"/>
              <a:t> import </a:t>
            </a:r>
            <a:r>
              <a:rPr lang="en-IN" dirty="0" err="1"/>
              <a:t>train_test_split</a:t>
            </a:r>
            <a:r>
              <a:rPr lang="en-IN" dirty="0"/>
              <a:t>, </a:t>
            </a:r>
            <a:r>
              <a:rPr lang="en-IN" dirty="0" err="1"/>
              <a:t>GridSearchCV</a:t>
            </a:r>
            <a:r>
              <a:rPr lang="en-IN" dirty="0"/>
              <a:t>, </a:t>
            </a:r>
            <a:r>
              <a:rPr lang="en-IN" dirty="0" err="1"/>
              <a:t>cross_val_score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sklearn.preprocessing</a:t>
            </a:r>
            <a:r>
              <a:rPr lang="en-IN" dirty="0"/>
              <a:t> import </a:t>
            </a:r>
            <a:r>
              <a:rPr lang="en-IN" dirty="0" err="1"/>
              <a:t>StandardScaler</a:t>
            </a:r>
            <a:r>
              <a:rPr lang="en-IN" dirty="0"/>
              <a:t>, </a:t>
            </a:r>
            <a:r>
              <a:rPr lang="en-IN" dirty="0" err="1"/>
              <a:t>OneHotEncoder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sklearn.compose</a:t>
            </a:r>
            <a:r>
              <a:rPr lang="en-IN" dirty="0"/>
              <a:t> import </a:t>
            </a:r>
            <a:r>
              <a:rPr lang="en-IN" dirty="0" err="1"/>
              <a:t>ColumnTransformer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sklearn.pipeline</a:t>
            </a:r>
            <a:r>
              <a:rPr lang="en-IN" dirty="0"/>
              <a:t> import Pipeline</a:t>
            </a:r>
          </a:p>
          <a:p>
            <a:r>
              <a:rPr lang="en-IN" dirty="0"/>
              <a:t>from </a:t>
            </a:r>
            <a:r>
              <a:rPr lang="en-IN" dirty="0" err="1"/>
              <a:t>sklearn.impute</a:t>
            </a:r>
            <a:r>
              <a:rPr lang="en-IN" dirty="0"/>
              <a:t> import </a:t>
            </a:r>
            <a:r>
              <a:rPr lang="en-IN" dirty="0" err="1"/>
              <a:t>SimpleImputer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sklearn.linear_model</a:t>
            </a:r>
            <a:r>
              <a:rPr lang="en-IN" dirty="0"/>
              <a:t> import </a:t>
            </a:r>
            <a:r>
              <a:rPr lang="en-IN" dirty="0" err="1"/>
              <a:t>LinearRegression</a:t>
            </a:r>
            <a:r>
              <a:rPr lang="en-IN" dirty="0"/>
              <a:t>, Ridge</a:t>
            </a:r>
          </a:p>
          <a:p>
            <a:r>
              <a:rPr lang="en-IN" dirty="0"/>
              <a:t>from </a:t>
            </a:r>
            <a:r>
              <a:rPr lang="en-IN" dirty="0" err="1"/>
              <a:t>sklearn.ensemble</a:t>
            </a:r>
            <a:r>
              <a:rPr lang="en-IN" dirty="0"/>
              <a:t> import </a:t>
            </a:r>
            <a:r>
              <a:rPr lang="en-IN" dirty="0" err="1"/>
              <a:t>RandomForestRegressor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sklearn.metrics</a:t>
            </a:r>
            <a:r>
              <a:rPr lang="en-IN" dirty="0"/>
              <a:t> import </a:t>
            </a:r>
            <a:r>
              <a:rPr lang="en-IN" dirty="0" err="1"/>
              <a:t>mean_squared_error</a:t>
            </a:r>
            <a:r>
              <a:rPr lang="en-IN" dirty="0"/>
              <a:t>, r2_score</a:t>
            </a:r>
          </a:p>
          <a:p>
            <a:r>
              <a:rPr lang="en-IN" dirty="0"/>
              <a:t>from </a:t>
            </a:r>
            <a:r>
              <a:rPr lang="en-IN" dirty="0" err="1"/>
              <a:t>sklearn.inspection</a:t>
            </a:r>
            <a:r>
              <a:rPr lang="en-IN" dirty="0"/>
              <a:t> import </a:t>
            </a:r>
            <a:r>
              <a:rPr lang="en-IN" dirty="0" err="1"/>
              <a:t>permutation_importance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# Try to import </a:t>
            </a:r>
            <a:r>
              <a:rPr lang="en-IN" dirty="0" err="1"/>
              <a:t>XGBoost</a:t>
            </a:r>
            <a:endParaRPr lang="en-IN" dirty="0"/>
          </a:p>
          <a:p>
            <a:r>
              <a:rPr lang="en-IN" dirty="0"/>
              <a:t>try:</a:t>
            </a:r>
          </a:p>
          <a:p>
            <a:r>
              <a:rPr lang="en-IN" dirty="0"/>
              <a:t>    from </a:t>
            </a:r>
            <a:r>
              <a:rPr lang="en-IN" dirty="0" err="1"/>
              <a:t>xgboost</a:t>
            </a:r>
            <a:r>
              <a:rPr lang="en-IN" dirty="0"/>
              <a:t> import </a:t>
            </a:r>
            <a:r>
              <a:rPr lang="en-IN" dirty="0" err="1"/>
              <a:t>XGBRegressor</a:t>
            </a:r>
            <a:endParaRPr lang="en-IN" dirty="0"/>
          </a:p>
          <a:p>
            <a:r>
              <a:rPr lang="en-IN" dirty="0"/>
              <a:t>except Exception as e:</a:t>
            </a:r>
          </a:p>
          <a:p>
            <a:r>
              <a:rPr lang="en-IN" dirty="0"/>
              <a:t>    raise </a:t>
            </a:r>
            <a:r>
              <a:rPr lang="en-IN" dirty="0" err="1"/>
              <a:t>ImportError</a:t>
            </a:r>
            <a:r>
              <a:rPr lang="en-IN" dirty="0"/>
              <a:t>("</a:t>
            </a:r>
            <a:r>
              <a:rPr lang="en-IN" dirty="0" err="1"/>
              <a:t>xgboost</a:t>
            </a:r>
            <a:r>
              <a:rPr lang="en-IN" dirty="0"/>
              <a:t> is required. Install with: pip install </a:t>
            </a:r>
            <a:r>
              <a:rPr lang="en-IN" dirty="0" err="1"/>
              <a:t>xgboost</a:t>
            </a:r>
            <a:r>
              <a:rPr lang="en-IN" dirty="0"/>
              <a:t>") from e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4607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617330-926B-467A-26FD-7EBB03390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6361" y="-115529"/>
            <a:ext cx="6400800" cy="1752600"/>
          </a:xfrm>
        </p:spPr>
        <p:txBody>
          <a:bodyPr>
            <a:noAutofit/>
          </a:bodyPr>
          <a:lstStyle/>
          <a:p>
            <a:r>
              <a:rPr lang="en-IN" sz="1050" dirty="0"/>
              <a:t># -----------------------</a:t>
            </a:r>
          </a:p>
          <a:p>
            <a:r>
              <a:rPr lang="en-IN" sz="1050" dirty="0"/>
              <a:t># 1) Load dataset</a:t>
            </a:r>
          </a:p>
          <a:p>
            <a:r>
              <a:rPr lang="en-IN" sz="1050" dirty="0"/>
              <a:t># -----------------------</a:t>
            </a:r>
          </a:p>
          <a:p>
            <a:r>
              <a:rPr lang="en-IN" sz="1050" dirty="0"/>
              <a:t>data = </a:t>
            </a:r>
            <a:r>
              <a:rPr lang="en-IN" sz="1050" dirty="0" err="1"/>
              <a:t>fetch_california_housing</a:t>
            </a:r>
            <a:r>
              <a:rPr lang="en-IN" sz="1050" dirty="0"/>
              <a:t>(</a:t>
            </a:r>
            <a:r>
              <a:rPr lang="en-IN" sz="1050" dirty="0" err="1"/>
              <a:t>as_frame</a:t>
            </a:r>
            <a:r>
              <a:rPr lang="en-IN" sz="1050" dirty="0"/>
              <a:t>=True)</a:t>
            </a:r>
          </a:p>
          <a:p>
            <a:r>
              <a:rPr lang="en-IN" sz="1050" dirty="0" err="1"/>
              <a:t>X_raw</a:t>
            </a:r>
            <a:r>
              <a:rPr lang="en-IN" sz="1050" dirty="0"/>
              <a:t> = </a:t>
            </a:r>
            <a:r>
              <a:rPr lang="en-IN" sz="1050" dirty="0" err="1"/>
              <a:t>data.frame.drop</a:t>
            </a:r>
            <a:r>
              <a:rPr lang="en-IN" sz="1050" dirty="0"/>
              <a:t>(columns=['</a:t>
            </a:r>
            <a:r>
              <a:rPr lang="en-IN" sz="1050" dirty="0" err="1"/>
              <a:t>MedHouseVal</a:t>
            </a:r>
            <a:r>
              <a:rPr lang="en-IN" sz="1050" dirty="0"/>
              <a:t>'])  # features</a:t>
            </a:r>
          </a:p>
          <a:p>
            <a:r>
              <a:rPr lang="en-IN" sz="1050" dirty="0" err="1"/>
              <a:t>y_raw</a:t>
            </a:r>
            <a:r>
              <a:rPr lang="en-IN" sz="1050" dirty="0"/>
              <a:t> = </a:t>
            </a:r>
            <a:r>
              <a:rPr lang="en-IN" sz="1050" dirty="0" err="1"/>
              <a:t>data.frame</a:t>
            </a:r>
            <a:r>
              <a:rPr lang="en-IN" sz="1050" dirty="0"/>
              <a:t>['</a:t>
            </a:r>
            <a:r>
              <a:rPr lang="en-IN" sz="1050" dirty="0" err="1"/>
              <a:t>MedHouseVal</a:t>
            </a:r>
            <a:r>
              <a:rPr lang="en-IN" sz="1050" dirty="0"/>
              <a:t>'] * 100000  # convert to dollars-like scale (optional)</a:t>
            </a:r>
          </a:p>
          <a:p>
            <a:br>
              <a:rPr lang="en-IN" sz="1050" dirty="0"/>
            </a:br>
            <a:endParaRPr lang="en-IN" sz="1050" dirty="0"/>
          </a:p>
          <a:p>
            <a:r>
              <a:rPr lang="en-IN" sz="1050" dirty="0"/>
              <a:t># Quick head</a:t>
            </a:r>
          </a:p>
          <a:p>
            <a:r>
              <a:rPr lang="en-IN" sz="1050" dirty="0"/>
              <a:t>print("Dataset shape:", </a:t>
            </a:r>
            <a:r>
              <a:rPr lang="en-IN" sz="1050" dirty="0" err="1"/>
              <a:t>X_raw.shape</a:t>
            </a:r>
            <a:r>
              <a:rPr lang="en-IN" sz="1050" dirty="0"/>
              <a:t>)</a:t>
            </a:r>
          </a:p>
          <a:p>
            <a:r>
              <a:rPr lang="en-IN" sz="1050" dirty="0"/>
              <a:t>print(</a:t>
            </a:r>
            <a:r>
              <a:rPr lang="en-IN" sz="1050" dirty="0" err="1"/>
              <a:t>X_raw.head</a:t>
            </a:r>
            <a:r>
              <a:rPr lang="en-IN" sz="1050" dirty="0"/>
              <a:t>())</a:t>
            </a:r>
          </a:p>
          <a:p>
            <a:br>
              <a:rPr lang="en-IN" sz="1050" dirty="0"/>
            </a:br>
            <a:endParaRPr lang="en-IN" sz="1050" dirty="0"/>
          </a:p>
          <a:p>
            <a:r>
              <a:rPr lang="en-IN" sz="1050" dirty="0"/>
              <a:t># -----------------------</a:t>
            </a:r>
          </a:p>
          <a:p>
            <a:r>
              <a:rPr lang="en-IN" sz="1050" dirty="0"/>
              <a:t># 2) Feature engineering (create a categorical 'location' from </a:t>
            </a:r>
            <a:r>
              <a:rPr lang="en-IN" sz="1050" dirty="0" err="1"/>
              <a:t>lat</a:t>
            </a:r>
            <a:r>
              <a:rPr lang="en-IN" sz="1050" dirty="0"/>
              <a:t>/</a:t>
            </a:r>
            <a:r>
              <a:rPr lang="en-IN" sz="1050" dirty="0" err="1"/>
              <a:t>lon</a:t>
            </a:r>
            <a:r>
              <a:rPr lang="en-IN" sz="1050" dirty="0"/>
              <a:t>)</a:t>
            </a:r>
          </a:p>
          <a:p>
            <a:r>
              <a:rPr lang="en-IN" sz="1050" dirty="0"/>
              <a:t># -----------------------</a:t>
            </a:r>
          </a:p>
          <a:p>
            <a:r>
              <a:rPr lang="en-IN" sz="1050" dirty="0" err="1"/>
              <a:t>df</a:t>
            </a:r>
            <a:r>
              <a:rPr lang="en-IN" sz="1050" dirty="0"/>
              <a:t> = </a:t>
            </a:r>
            <a:r>
              <a:rPr lang="en-IN" sz="1050" dirty="0" err="1"/>
              <a:t>X_raw.copy</a:t>
            </a:r>
            <a:r>
              <a:rPr lang="en-IN" sz="1050" dirty="0"/>
              <a:t>()</a:t>
            </a:r>
          </a:p>
          <a:p>
            <a:r>
              <a:rPr lang="en-IN" sz="1050" dirty="0" err="1"/>
              <a:t>df</a:t>
            </a:r>
            <a:r>
              <a:rPr lang="en-IN" sz="1050" dirty="0"/>
              <a:t>['</a:t>
            </a:r>
            <a:r>
              <a:rPr lang="en-IN" sz="1050" dirty="0" err="1"/>
              <a:t>latitude_bin</a:t>
            </a:r>
            <a:r>
              <a:rPr lang="en-IN" sz="1050" dirty="0"/>
              <a:t>'] = </a:t>
            </a:r>
            <a:r>
              <a:rPr lang="en-IN" sz="1050" dirty="0" err="1"/>
              <a:t>pd.cut</a:t>
            </a:r>
            <a:r>
              <a:rPr lang="en-IN" sz="1050" dirty="0"/>
              <a:t>(</a:t>
            </a:r>
            <a:r>
              <a:rPr lang="en-IN" sz="1050" dirty="0" err="1"/>
              <a:t>df</a:t>
            </a:r>
            <a:r>
              <a:rPr lang="en-IN" sz="1050" dirty="0"/>
              <a:t>['Latitude'], bins=3, labels=['</a:t>
            </a:r>
            <a:r>
              <a:rPr lang="en-IN" sz="1050" dirty="0" err="1"/>
              <a:t>south','central','north</a:t>
            </a:r>
            <a:r>
              <a:rPr lang="en-IN" sz="1050" dirty="0"/>
              <a:t>'])</a:t>
            </a:r>
          </a:p>
          <a:p>
            <a:r>
              <a:rPr lang="en-IN" sz="1050" dirty="0" err="1"/>
              <a:t>df</a:t>
            </a:r>
            <a:r>
              <a:rPr lang="en-IN" sz="1050" dirty="0"/>
              <a:t>['</a:t>
            </a:r>
            <a:r>
              <a:rPr lang="en-IN" sz="1050" dirty="0" err="1"/>
              <a:t>longitude_bin</a:t>
            </a:r>
            <a:r>
              <a:rPr lang="en-IN" sz="1050" dirty="0"/>
              <a:t>'] = </a:t>
            </a:r>
            <a:r>
              <a:rPr lang="en-IN" sz="1050" dirty="0" err="1"/>
              <a:t>pd.cut</a:t>
            </a:r>
            <a:r>
              <a:rPr lang="en-IN" sz="1050" dirty="0"/>
              <a:t>(</a:t>
            </a:r>
            <a:r>
              <a:rPr lang="en-IN" sz="1050" dirty="0" err="1"/>
              <a:t>df</a:t>
            </a:r>
            <a:r>
              <a:rPr lang="en-IN" sz="1050" dirty="0"/>
              <a:t>['Longitude'], bins=3, labels=['west_cent','</a:t>
            </a:r>
            <a:r>
              <a:rPr lang="en-IN" sz="1050" dirty="0" err="1"/>
              <a:t>center</a:t>
            </a:r>
            <a:r>
              <a:rPr lang="en-IN" sz="1050" dirty="0"/>
              <a:t>','east'])</a:t>
            </a:r>
          </a:p>
          <a:p>
            <a:r>
              <a:rPr lang="en-IN" sz="1050" dirty="0" err="1"/>
              <a:t>df</a:t>
            </a:r>
            <a:r>
              <a:rPr lang="en-IN" sz="1050" dirty="0"/>
              <a:t>['</a:t>
            </a:r>
            <a:r>
              <a:rPr lang="en-IN" sz="1050" dirty="0" err="1"/>
              <a:t>location_region</a:t>
            </a:r>
            <a:r>
              <a:rPr lang="en-IN" sz="1050" dirty="0"/>
              <a:t>'] = </a:t>
            </a:r>
            <a:r>
              <a:rPr lang="en-IN" sz="1050" dirty="0" err="1"/>
              <a:t>df</a:t>
            </a:r>
            <a:r>
              <a:rPr lang="en-IN" sz="1050" dirty="0"/>
              <a:t>['</a:t>
            </a:r>
            <a:r>
              <a:rPr lang="en-IN" sz="1050" dirty="0" err="1"/>
              <a:t>latitude_bin</a:t>
            </a:r>
            <a:r>
              <a:rPr lang="en-IN" sz="1050" dirty="0"/>
              <a:t>'].</a:t>
            </a:r>
            <a:r>
              <a:rPr lang="en-IN" sz="1050" dirty="0" err="1"/>
              <a:t>astype</a:t>
            </a:r>
            <a:r>
              <a:rPr lang="en-IN" sz="1050" dirty="0"/>
              <a:t>(str) + "_" + </a:t>
            </a:r>
            <a:r>
              <a:rPr lang="en-IN" sz="1050" dirty="0" err="1"/>
              <a:t>df</a:t>
            </a:r>
            <a:r>
              <a:rPr lang="en-IN" sz="1050" dirty="0"/>
              <a:t>['</a:t>
            </a:r>
            <a:r>
              <a:rPr lang="en-IN" sz="1050" dirty="0" err="1"/>
              <a:t>longitude_bin</a:t>
            </a:r>
            <a:r>
              <a:rPr lang="en-IN" sz="1050" dirty="0"/>
              <a:t>'].</a:t>
            </a:r>
            <a:r>
              <a:rPr lang="en-IN" sz="1050" dirty="0" err="1"/>
              <a:t>astype</a:t>
            </a:r>
            <a:r>
              <a:rPr lang="en-IN" sz="1050" dirty="0"/>
              <a:t>(str)</a:t>
            </a:r>
          </a:p>
          <a:p>
            <a:br>
              <a:rPr lang="en-IN" sz="1050" dirty="0"/>
            </a:br>
            <a:endParaRPr lang="en-IN" sz="1050" dirty="0"/>
          </a:p>
          <a:p>
            <a:r>
              <a:rPr lang="en-IN" sz="1050" dirty="0"/>
              <a:t># Drop intermediate bins if you want</a:t>
            </a:r>
          </a:p>
          <a:p>
            <a:r>
              <a:rPr lang="en-IN" sz="1050" dirty="0" err="1"/>
              <a:t>df</a:t>
            </a:r>
            <a:r>
              <a:rPr lang="en-IN" sz="1050" dirty="0"/>
              <a:t> = </a:t>
            </a:r>
            <a:r>
              <a:rPr lang="en-IN" sz="1050" dirty="0" err="1"/>
              <a:t>df.drop</a:t>
            </a:r>
            <a:r>
              <a:rPr lang="en-IN" sz="1050" dirty="0"/>
              <a:t>(columns=['</a:t>
            </a:r>
            <a:r>
              <a:rPr lang="en-IN" sz="1050" dirty="0" err="1"/>
              <a:t>latitude_bin</a:t>
            </a:r>
            <a:r>
              <a:rPr lang="en-IN" sz="1050" dirty="0"/>
              <a:t>', '</a:t>
            </a:r>
            <a:r>
              <a:rPr lang="en-IN" sz="1050" dirty="0" err="1"/>
              <a:t>longitude_bin</a:t>
            </a:r>
            <a:r>
              <a:rPr lang="en-IN" sz="1050" dirty="0"/>
              <a:t>'])</a:t>
            </a:r>
          </a:p>
          <a:p>
            <a:br>
              <a:rPr lang="en-IN" sz="1050" dirty="0"/>
            </a:br>
            <a:endParaRPr lang="en-IN" sz="1050" dirty="0"/>
          </a:p>
          <a:p>
            <a:r>
              <a:rPr lang="en-IN" sz="1050" dirty="0"/>
              <a:t># 3) Introduce or check for missingness (this dataset doesn't have </a:t>
            </a:r>
            <a:r>
              <a:rPr lang="en-IN" sz="1050" dirty="0" err="1"/>
              <a:t>missings</a:t>
            </a:r>
            <a:r>
              <a:rPr lang="en-IN" sz="1050" dirty="0"/>
              <a:t> by default).</a:t>
            </a:r>
          </a:p>
          <a:p>
            <a:r>
              <a:rPr lang="en-IN" sz="1050" dirty="0"/>
              <a:t>#    But we'll still design imputation into the pipeline to handle real-world cases.</a:t>
            </a:r>
          </a:p>
          <a:p>
            <a:r>
              <a:rPr lang="en-IN" sz="1050" dirty="0"/>
              <a:t>print("\</a:t>
            </a:r>
            <a:r>
              <a:rPr lang="en-IN" sz="1050" dirty="0" err="1"/>
              <a:t>nAny</a:t>
            </a:r>
            <a:r>
              <a:rPr lang="en-IN" sz="1050" dirty="0"/>
              <a:t> missing values?\n", </a:t>
            </a:r>
            <a:r>
              <a:rPr lang="en-IN" sz="1050" dirty="0" err="1"/>
              <a:t>df.isnull</a:t>
            </a:r>
            <a:r>
              <a:rPr lang="en-IN" sz="1050" dirty="0"/>
              <a:t>().sum().</a:t>
            </a:r>
            <a:r>
              <a:rPr lang="en-IN" sz="1050" dirty="0" err="1"/>
              <a:t>sort_values</a:t>
            </a:r>
            <a:r>
              <a:rPr lang="en-IN" sz="1050" dirty="0"/>
              <a:t>(ascending=False).head())</a:t>
            </a:r>
          </a:p>
          <a:p>
            <a:br>
              <a:rPr lang="en-IN" sz="1050" dirty="0"/>
            </a:br>
            <a:endParaRPr lang="en-IN" sz="1050" dirty="0"/>
          </a:p>
          <a:p>
            <a:r>
              <a:rPr lang="en-IN" sz="1050" dirty="0"/>
              <a:t># -----------------------</a:t>
            </a:r>
          </a:p>
          <a:p>
            <a:r>
              <a:rPr lang="en-IN" sz="1050" dirty="0"/>
              <a:t># 4) Train/Test split</a:t>
            </a:r>
          </a:p>
          <a:p>
            <a:r>
              <a:rPr lang="en-IN" sz="1050" dirty="0"/>
              <a:t># -----------------------</a:t>
            </a:r>
          </a:p>
          <a:p>
            <a:r>
              <a:rPr lang="en-IN" sz="1050" dirty="0" err="1"/>
              <a:t>X_train</a:t>
            </a:r>
            <a:r>
              <a:rPr lang="en-IN" sz="1050" dirty="0"/>
              <a:t>, </a:t>
            </a:r>
            <a:r>
              <a:rPr lang="en-IN" sz="1050" dirty="0" err="1"/>
              <a:t>X_test</a:t>
            </a:r>
            <a:r>
              <a:rPr lang="en-IN" sz="1050" dirty="0"/>
              <a:t>, </a:t>
            </a:r>
            <a:r>
              <a:rPr lang="en-IN" sz="1050" dirty="0" err="1"/>
              <a:t>y_train</a:t>
            </a:r>
            <a:r>
              <a:rPr lang="en-IN" sz="1050" dirty="0"/>
              <a:t>, </a:t>
            </a:r>
            <a:r>
              <a:rPr lang="en-IN" sz="1050" dirty="0" err="1"/>
              <a:t>y_test</a:t>
            </a:r>
            <a:r>
              <a:rPr lang="en-IN" sz="1050" dirty="0"/>
              <a:t> = </a:t>
            </a:r>
            <a:r>
              <a:rPr lang="en-IN" sz="1050" dirty="0" err="1"/>
              <a:t>train_test_split</a:t>
            </a:r>
            <a:r>
              <a:rPr lang="en-IN" sz="1050" dirty="0"/>
              <a:t>(</a:t>
            </a:r>
            <a:r>
              <a:rPr lang="en-IN" sz="1050" dirty="0" err="1"/>
              <a:t>df</a:t>
            </a:r>
            <a:r>
              <a:rPr lang="en-IN" sz="1050" dirty="0"/>
              <a:t>, </a:t>
            </a:r>
            <a:r>
              <a:rPr lang="en-IN" sz="1050" dirty="0" err="1"/>
              <a:t>y_raw</a:t>
            </a:r>
            <a:r>
              <a:rPr lang="en-IN" sz="1050" dirty="0"/>
              <a:t>, </a:t>
            </a:r>
            <a:r>
              <a:rPr lang="en-IN" sz="1050" dirty="0" err="1"/>
              <a:t>test_size</a:t>
            </a:r>
            <a:r>
              <a:rPr lang="en-IN" sz="1050" dirty="0"/>
              <a:t>=0.2, </a:t>
            </a:r>
            <a:r>
              <a:rPr lang="en-IN" sz="1050" dirty="0" err="1"/>
              <a:t>random_state</a:t>
            </a:r>
            <a:r>
              <a:rPr lang="en-IN" sz="1050" dirty="0"/>
              <a:t>=42)</a:t>
            </a:r>
          </a:p>
          <a:p>
            <a:br>
              <a:rPr lang="en-IN" sz="1050" dirty="0"/>
            </a:br>
            <a:endParaRPr lang="en-IN" sz="1050" dirty="0"/>
          </a:p>
          <a:p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3028701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22879B-4C57-9A6B-9F8E-31C58C5FF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477" y="147484"/>
            <a:ext cx="6400800" cy="5334000"/>
          </a:xfrm>
        </p:spPr>
        <p:txBody>
          <a:bodyPr>
            <a:noAutofit/>
          </a:bodyPr>
          <a:lstStyle/>
          <a:p>
            <a:r>
              <a:rPr lang="en-IN" sz="900" dirty="0"/>
              <a:t># -----------------------</a:t>
            </a:r>
          </a:p>
          <a:p>
            <a:r>
              <a:rPr lang="en-IN" sz="900" dirty="0"/>
              <a:t># 5) Outlier treatment (on numeric features) — robust capping (</a:t>
            </a:r>
            <a:r>
              <a:rPr lang="en-IN" sz="900" dirty="0" err="1"/>
              <a:t>winsorization</a:t>
            </a:r>
            <a:r>
              <a:rPr lang="en-IN" sz="900" dirty="0"/>
              <a:t> by quantiles)</a:t>
            </a:r>
          </a:p>
          <a:p>
            <a:r>
              <a:rPr lang="en-IN" sz="900" dirty="0"/>
              <a:t># -----------------------</a:t>
            </a:r>
          </a:p>
          <a:p>
            <a:r>
              <a:rPr lang="en-IN" sz="900" dirty="0"/>
              <a:t>def </a:t>
            </a:r>
            <a:r>
              <a:rPr lang="en-IN" sz="900" dirty="0" err="1"/>
              <a:t>cap_outliers</a:t>
            </a:r>
            <a:r>
              <a:rPr lang="en-IN" sz="900" dirty="0"/>
              <a:t>(</a:t>
            </a:r>
            <a:r>
              <a:rPr lang="en-IN" sz="900" dirty="0" err="1"/>
              <a:t>df_in</a:t>
            </a:r>
            <a:r>
              <a:rPr lang="en-IN" sz="900" dirty="0"/>
              <a:t>, cols, </a:t>
            </a:r>
            <a:r>
              <a:rPr lang="en-IN" sz="900" dirty="0" err="1"/>
              <a:t>lower_q</a:t>
            </a:r>
            <a:r>
              <a:rPr lang="en-IN" sz="900" dirty="0"/>
              <a:t>=0.01, </a:t>
            </a:r>
            <a:r>
              <a:rPr lang="en-IN" sz="900" dirty="0" err="1"/>
              <a:t>upper_q</a:t>
            </a:r>
            <a:r>
              <a:rPr lang="en-IN" sz="900" dirty="0"/>
              <a:t>=0.99):</a:t>
            </a:r>
          </a:p>
          <a:p>
            <a:r>
              <a:rPr lang="en-IN" sz="900" dirty="0"/>
              <a:t>    </a:t>
            </a:r>
            <a:r>
              <a:rPr lang="en-IN" sz="900" dirty="0" err="1"/>
              <a:t>df_out</a:t>
            </a:r>
            <a:r>
              <a:rPr lang="en-IN" sz="900" dirty="0"/>
              <a:t> = </a:t>
            </a:r>
            <a:r>
              <a:rPr lang="en-IN" sz="900" dirty="0" err="1"/>
              <a:t>df_in.copy</a:t>
            </a:r>
            <a:r>
              <a:rPr lang="en-IN" sz="900" dirty="0"/>
              <a:t>()</a:t>
            </a:r>
          </a:p>
          <a:p>
            <a:r>
              <a:rPr lang="en-IN" sz="900" dirty="0"/>
              <a:t>    for c in cols:</a:t>
            </a:r>
          </a:p>
          <a:p>
            <a:r>
              <a:rPr lang="en-IN" sz="900" dirty="0"/>
              <a:t>        lower = </a:t>
            </a:r>
            <a:r>
              <a:rPr lang="en-IN" sz="900" dirty="0" err="1"/>
              <a:t>df_out</a:t>
            </a:r>
            <a:r>
              <a:rPr lang="en-IN" sz="900" dirty="0"/>
              <a:t>[c].quantile(</a:t>
            </a:r>
            <a:r>
              <a:rPr lang="en-IN" sz="900" dirty="0" err="1"/>
              <a:t>lower_q</a:t>
            </a:r>
            <a:r>
              <a:rPr lang="en-IN" sz="900" dirty="0"/>
              <a:t>)</a:t>
            </a:r>
          </a:p>
          <a:p>
            <a:r>
              <a:rPr lang="en-IN" sz="900" dirty="0"/>
              <a:t>        upper = </a:t>
            </a:r>
            <a:r>
              <a:rPr lang="en-IN" sz="900" dirty="0" err="1"/>
              <a:t>df_out</a:t>
            </a:r>
            <a:r>
              <a:rPr lang="en-IN" sz="900" dirty="0"/>
              <a:t>[c].quantile(</a:t>
            </a:r>
            <a:r>
              <a:rPr lang="en-IN" sz="900" dirty="0" err="1"/>
              <a:t>upper_q</a:t>
            </a:r>
            <a:r>
              <a:rPr lang="en-IN" sz="900" dirty="0"/>
              <a:t>)</a:t>
            </a:r>
          </a:p>
          <a:p>
            <a:r>
              <a:rPr lang="en-IN" sz="900" dirty="0"/>
              <a:t>        </a:t>
            </a:r>
            <a:r>
              <a:rPr lang="en-IN" sz="900" dirty="0" err="1"/>
              <a:t>df_out</a:t>
            </a:r>
            <a:r>
              <a:rPr lang="en-IN" sz="900" dirty="0"/>
              <a:t>[c] = </a:t>
            </a:r>
            <a:r>
              <a:rPr lang="en-IN" sz="900" dirty="0" err="1"/>
              <a:t>df_out</a:t>
            </a:r>
            <a:r>
              <a:rPr lang="en-IN" sz="900" dirty="0"/>
              <a:t>[c].clip(lower, upper)</a:t>
            </a:r>
          </a:p>
          <a:p>
            <a:r>
              <a:rPr lang="en-IN" sz="900" dirty="0"/>
              <a:t>    return </a:t>
            </a:r>
            <a:r>
              <a:rPr lang="en-IN" sz="900" dirty="0" err="1"/>
              <a:t>df_out</a:t>
            </a:r>
            <a:endParaRPr lang="en-IN" sz="900" dirty="0"/>
          </a:p>
          <a:p>
            <a:endParaRPr lang="en-IN" sz="900" dirty="0"/>
          </a:p>
          <a:p>
            <a:r>
              <a:rPr lang="en-IN" sz="900" dirty="0" err="1"/>
              <a:t>numeric_cols</a:t>
            </a:r>
            <a:r>
              <a:rPr lang="en-IN" sz="900" dirty="0"/>
              <a:t> = </a:t>
            </a:r>
            <a:r>
              <a:rPr lang="en-IN" sz="900" dirty="0" err="1"/>
              <a:t>X_train.select_dtypes</a:t>
            </a:r>
            <a:r>
              <a:rPr lang="en-IN" sz="900" dirty="0"/>
              <a:t>(include=[</a:t>
            </a:r>
            <a:r>
              <a:rPr lang="en-IN" sz="900" dirty="0" err="1"/>
              <a:t>np.number</a:t>
            </a:r>
            <a:r>
              <a:rPr lang="en-IN" sz="900" dirty="0"/>
              <a:t>]).</a:t>
            </a:r>
            <a:r>
              <a:rPr lang="en-IN" sz="900" dirty="0" err="1"/>
              <a:t>columns.tolist</a:t>
            </a:r>
            <a:r>
              <a:rPr lang="en-IN" sz="900" dirty="0"/>
              <a:t>()</a:t>
            </a:r>
          </a:p>
          <a:p>
            <a:r>
              <a:rPr lang="en-IN" sz="900" dirty="0"/>
              <a:t># Cap outliers in training and test (use train quantiles to avoid leakage)</a:t>
            </a:r>
          </a:p>
          <a:p>
            <a:r>
              <a:rPr lang="en-IN" sz="900" dirty="0" err="1"/>
              <a:t>train_quantiles</a:t>
            </a:r>
            <a:r>
              <a:rPr lang="en-IN" sz="900" dirty="0"/>
              <a:t> = </a:t>
            </a:r>
            <a:r>
              <a:rPr lang="en-IN" sz="900" dirty="0" err="1"/>
              <a:t>X_train</a:t>
            </a:r>
            <a:r>
              <a:rPr lang="en-IN" sz="900" dirty="0"/>
              <a:t>[</a:t>
            </a:r>
            <a:r>
              <a:rPr lang="en-IN" sz="900" dirty="0" err="1"/>
              <a:t>numeric_cols</a:t>
            </a:r>
            <a:r>
              <a:rPr lang="en-IN" sz="900" dirty="0"/>
              <a:t>].quantile([0.01, 0.99]).T</a:t>
            </a:r>
          </a:p>
          <a:p>
            <a:r>
              <a:rPr lang="en-IN" sz="900" dirty="0"/>
              <a:t>for c in </a:t>
            </a:r>
            <a:r>
              <a:rPr lang="en-IN" sz="900" dirty="0" err="1"/>
              <a:t>numeric_cols</a:t>
            </a:r>
            <a:r>
              <a:rPr lang="en-IN" sz="900" dirty="0"/>
              <a:t>:</a:t>
            </a:r>
          </a:p>
          <a:p>
            <a:r>
              <a:rPr lang="en-IN" sz="900" dirty="0"/>
              <a:t>    lo = </a:t>
            </a:r>
            <a:r>
              <a:rPr lang="en-IN" sz="900" dirty="0" err="1"/>
              <a:t>train_quantiles.loc</a:t>
            </a:r>
            <a:r>
              <a:rPr lang="en-IN" sz="900" dirty="0"/>
              <a:t>[c, 0.01]</a:t>
            </a:r>
          </a:p>
          <a:p>
            <a:r>
              <a:rPr lang="en-IN" sz="900" dirty="0"/>
              <a:t>    hi = </a:t>
            </a:r>
            <a:r>
              <a:rPr lang="en-IN" sz="900" dirty="0" err="1"/>
              <a:t>train_quantiles.loc</a:t>
            </a:r>
            <a:r>
              <a:rPr lang="en-IN" sz="900" dirty="0"/>
              <a:t>[c, 0.99]</a:t>
            </a:r>
          </a:p>
          <a:p>
            <a:r>
              <a:rPr lang="en-IN" sz="900" dirty="0"/>
              <a:t>    </a:t>
            </a:r>
            <a:r>
              <a:rPr lang="en-IN" sz="900" dirty="0" err="1"/>
              <a:t>X_train</a:t>
            </a:r>
            <a:r>
              <a:rPr lang="en-IN" sz="900" dirty="0"/>
              <a:t>[c] = </a:t>
            </a:r>
            <a:r>
              <a:rPr lang="en-IN" sz="900" dirty="0" err="1"/>
              <a:t>X_train</a:t>
            </a:r>
            <a:r>
              <a:rPr lang="en-IN" sz="900" dirty="0"/>
              <a:t>[c].clip(lo, hi)</a:t>
            </a:r>
          </a:p>
          <a:p>
            <a:r>
              <a:rPr lang="en-IN" sz="900" dirty="0"/>
              <a:t>    </a:t>
            </a:r>
            <a:r>
              <a:rPr lang="en-IN" sz="900" dirty="0" err="1"/>
              <a:t>X_test</a:t>
            </a:r>
            <a:r>
              <a:rPr lang="en-IN" sz="900" dirty="0"/>
              <a:t>[c] = </a:t>
            </a:r>
            <a:r>
              <a:rPr lang="en-IN" sz="900" dirty="0" err="1"/>
              <a:t>X_test</a:t>
            </a:r>
            <a:r>
              <a:rPr lang="en-IN" sz="900" dirty="0"/>
              <a:t>[c].clip(lo, hi)</a:t>
            </a:r>
          </a:p>
          <a:p>
            <a:endParaRPr lang="en-IN" sz="900" dirty="0"/>
          </a:p>
          <a:p>
            <a:r>
              <a:rPr lang="en-IN" sz="900" dirty="0"/>
              <a:t># -----------------------</a:t>
            </a:r>
          </a:p>
          <a:p>
            <a:r>
              <a:rPr lang="en-IN" sz="900" dirty="0"/>
              <a:t># 6) Preprocessing pipelines</a:t>
            </a:r>
          </a:p>
          <a:p>
            <a:r>
              <a:rPr lang="en-IN" sz="900" dirty="0"/>
              <a:t># -----------------------</a:t>
            </a:r>
          </a:p>
          <a:p>
            <a:r>
              <a:rPr lang="en-IN" sz="900" dirty="0"/>
              <a:t># Numeric pipeline: impute (median) + scale</a:t>
            </a:r>
          </a:p>
          <a:p>
            <a:r>
              <a:rPr lang="en-IN" sz="900" dirty="0" err="1"/>
              <a:t>numeric_transformer</a:t>
            </a:r>
            <a:r>
              <a:rPr lang="en-IN" sz="900" dirty="0"/>
              <a:t> = Pipeline([</a:t>
            </a:r>
          </a:p>
          <a:p>
            <a:r>
              <a:rPr lang="en-IN" sz="900" dirty="0"/>
              <a:t>    ('imputer', </a:t>
            </a:r>
            <a:r>
              <a:rPr lang="en-IN" sz="900" dirty="0" err="1"/>
              <a:t>SimpleImputer</a:t>
            </a:r>
            <a:r>
              <a:rPr lang="en-IN" sz="900" dirty="0"/>
              <a:t>(strategy='median')),</a:t>
            </a:r>
          </a:p>
          <a:p>
            <a:r>
              <a:rPr lang="en-IN" sz="900" dirty="0"/>
              <a:t>    ('scaler', </a:t>
            </a:r>
            <a:r>
              <a:rPr lang="en-IN" sz="900" dirty="0" err="1"/>
              <a:t>StandardScaler</a:t>
            </a:r>
            <a:r>
              <a:rPr lang="en-IN" sz="900" dirty="0"/>
              <a:t>())</a:t>
            </a:r>
          </a:p>
          <a:p>
            <a:r>
              <a:rPr lang="en-IN" sz="900" dirty="0"/>
              <a:t>])</a:t>
            </a:r>
          </a:p>
          <a:p>
            <a:endParaRPr lang="en-IN" sz="900" dirty="0"/>
          </a:p>
          <a:p>
            <a:r>
              <a:rPr lang="en-IN" sz="900" dirty="0"/>
              <a:t># Categorical pipeline: impute (</a:t>
            </a:r>
            <a:r>
              <a:rPr lang="en-IN" sz="900" dirty="0" err="1"/>
              <a:t>most_frequent</a:t>
            </a:r>
            <a:r>
              <a:rPr lang="en-IN" sz="900" dirty="0"/>
              <a:t>) + one-hot encode (drop='first' to avoid multicollinearity)</a:t>
            </a:r>
          </a:p>
          <a:p>
            <a:r>
              <a:rPr lang="en-IN" sz="900" dirty="0" err="1"/>
              <a:t>categorical_cols</a:t>
            </a:r>
            <a:r>
              <a:rPr lang="en-IN" sz="900" dirty="0"/>
              <a:t> = ['</a:t>
            </a:r>
            <a:r>
              <a:rPr lang="en-IN" sz="900" dirty="0" err="1"/>
              <a:t>location_region</a:t>
            </a:r>
            <a:r>
              <a:rPr lang="en-IN" sz="900" dirty="0"/>
              <a:t>']</a:t>
            </a:r>
          </a:p>
          <a:p>
            <a:r>
              <a:rPr lang="en-IN" sz="900" dirty="0" err="1"/>
              <a:t>categorical_transformer</a:t>
            </a:r>
            <a:r>
              <a:rPr lang="en-IN" sz="900" dirty="0"/>
              <a:t> = Pipeline([</a:t>
            </a:r>
          </a:p>
          <a:p>
            <a:r>
              <a:rPr lang="en-IN" sz="900" dirty="0"/>
              <a:t>    ('imputer', </a:t>
            </a:r>
            <a:r>
              <a:rPr lang="en-IN" sz="900" dirty="0" err="1"/>
              <a:t>SimpleImputer</a:t>
            </a:r>
            <a:r>
              <a:rPr lang="en-IN" sz="900" dirty="0"/>
              <a:t>(strategy='</a:t>
            </a:r>
            <a:r>
              <a:rPr lang="en-IN" sz="900" dirty="0" err="1"/>
              <a:t>most_frequent</a:t>
            </a:r>
            <a:r>
              <a:rPr lang="en-IN" sz="900" dirty="0"/>
              <a:t>')),</a:t>
            </a:r>
          </a:p>
          <a:p>
            <a:r>
              <a:rPr lang="en-IN" sz="900" dirty="0"/>
              <a:t>    ('</a:t>
            </a:r>
            <a:r>
              <a:rPr lang="en-IN" sz="900" dirty="0" err="1"/>
              <a:t>onehot</a:t>
            </a:r>
            <a:r>
              <a:rPr lang="en-IN" sz="900" dirty="0"/>
              <a:t>', </a:t>
            </a:r>
            <a:r>
              <a:rPr lang="en-IN" sz="900" dirty="0" err="1"/>
              <a:t>OneHotEncoder</a:t>
            </a:r>
            <a:r>
              <a:rPr lang="en-IN" sz="900" dirty="0"/>
              <a:t>(</a:t>
            </a:r>
            <a:r>
              <a:rPr lang="en-IN" sz="900" dirty="0" err="1"/>
              <a:t>handle_unknown</a:t>
            </a:r>
            <a:r>
              <a:rPr lang="en-IN" sz="900" dirty="0"/>
              <a:t>='ignore', drop='first', sparse=False))</a:t>
            </a:r>
          </a:p>
          <a:p>
            <a:r>
              <a:rPr lang="en-IN" sz="900" dirty="0"/>
              <a:t>])</a:t>
            </a:r>
          </a:p>
          <a:p>
            <a:endParaRPr lang="en-IN" sz="900" dirty="0"/>
          </a:p>
          <a:p>
            <a:r>
              <a:rPr lang="en-IN" sz="900" dirty="0"/>
              <a:t>preprocessor = </a:t>
            </a:r>
            <a:r>
              <a:rPr lang="en-IN" sz="900" dirty="0" err="1"/>
              <a:t>ColumnTransformer</a:t>
            </a:r>
            <a:r>
              <a:rPr lang="en-IN" sz="900" dirty="0"/>
              <a:t>([</a:t>
            </a:r>
          </a:p>
          <a:p>
            <a:r>
              <a:rPr lang="en-IN" sz="900" dirty="0"/>
              <a:t>    ('</a:t>
            </a:r>
            <a:r>
              <a:rPr lang="en-IN" sz="900" dirty="0" err="1"/>
              <a:t>num</a:t>
            </a:r>
            <a:r>
              <a:rPr lang="en-IN" sz="900" dirty="0"/>
              <a:t>', </a:t>
            </a:r>
            <a:r>
              <a:rPr lang="en-IN" sz="900" dirty="0" err="1"/>
              <a:t>numeric_transformer</a:t>
            </a:r>
            <a:r>
              <a:rPr lang="en-IN" sz="900" dirty="0"/>
              <a:t>, </a:t>
            </a:r>
            <a:r>
              <a:rPr lang="en-IN" sz="900" dirty="0" err="1"/>
              <a:t>numeric_cols</a:t>
            </a:r>
            <a:r>
              <a:rPr lang="en-IN" sz="900" dirty="0"/>
              <a:t>),</a:t>
            </a:r>
          </a:p>
          <a:p>
            <a:r>
              <a:rPr lang="en-IN" sz="900" dirty="0"/>
              <a:t>    ('cat', </a:t>
            </a:r>
            <a:r>
              <a:rPr lang="en-IN" sz="900" dirty="0" err="1"/>
              <a:t>categorical_transformer</a:t>
            </a:r>
            <a:r>
              <a:rPr lang="en-IN" sz="900" dirty="0"/>
              <a:t>, </a:t>
            </a:r>
            <a:r>
              <a:rPr lang="en-IN" sz="900" dirty="0" err="1"/>
              <a:t>categorical_cols</a:t>
            </a:r>
            <a:r>
              <a:rPr lang="en-IN" sz="900" dirty="0"/>
              <a:t>)</a:t>
            </a:r>
          </a:p>
          <a:p>
            <a:r>
              <a:rPr lang="en-IN" sz="900" dirty="0"/>
              <a:t>], remainder='drop')</a:t>
            </a:r>
          </a:p>
          <a:p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429882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1C7874-E3BA-E89A-AEBE-F7EE31933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8310" y="346587"/>
            <a:ext cx="6400800" cy="1752600"/>
          </a:xfrm>
        </p:spPr>
        <p:txBody>
          <a:bodyPr>
            <a:noAutofit/>
          </a:bodyPr>
          <a:lstStyle/>
          <a:p>
            <a:r>
              <a:rPr lang="en-IN" sz="1000" dirty="0"/>
              <a:t># -----------------------</a:t>
            </a:r>
          </a:p>
          <a:p>
            <a:r>
              <a:rPr lang="en-IN" sz="1000" dirty="0"/>
              <a:t># 7) Models: Pipelines (preprocessor + model)</a:t>
            </a:r>
          </a:p>
          <a:p>
            <a:r>
              <a:rPr lang="en-IN" sz="1000" dirty="0"/>
              <a:t># -----------------------</a:t>
            </a:r>
          </a:p>
          <a:p>
            <a:r>
              <a:rPr lang="en-IN" sz="1000" dirty="0"/>
              <a:t>models = {</a:t>
            </a:r>
          </a:p>
          <a:p>
            <a:r>
              <a:rPr lang="en-IN" sz="1000" dirty="0"/>
              <a:t>    '</a:t>
            </a:r>
            <a:r>
              <a:rPr lang="en-IN" sz="1000" dirty="0" err="1"/>
              <a:t>LinearRegression</a:t>
            </a:r>
            <a:r>
              <a:rPr lang="en-IN" sz="1000" dirty="0"/>
              <a:t>': Pipeline([('pre', preprocessor), ('model', </a:t>
            </a:r>
            <a:r>
              <a:rPr lang="en-IN" sz="1000" dirty="0" err="1"/>
              <a:t>LinearRegression</a:t>
            </a:r>
            <a:r>
              <a:rPr lang="en-IN" sz="1000" dirty="0"/>
              <a:t>())]),</a:t>
            </a:r>
          </a:p>
          <a:p>
            <a:r>
              <a:rPr lang="en-IN" sz="1000" dirty="0"/>
              <a:t>    'Ridge': Pipeline([('pre', preprocessor), ('model', Ridge(alpha=1.0))]),</a:t>
            </a:r>
          </a:p>
          <a:p>
            <a:r>
              <a:rPr lang="en-IN" sz="1000" dirty="0"/>
              <a:t>    '</a:t>
            </a:r>
            <a:r>
              <a:rPr lang="en-IN" sz="1000" dirty="0" err="1"/>
              <a:t>RandomForest</a:t>
            </a:r>
            <a:r>
              <a:rPr lang="en-IN" sz="1000" dirty="0"/>
              <a:t>': Pipeline([('pre', preprocessor), ('model', </a:t>
            </a:r>
            <a:r>
              <a:rPr lang="en-IN" sz="1000" dirty="0" err="1"/>
              <a:t>RandomForestRegressor</a:t>
            </a:r>
            <a:r>
              <a:rPr lang="en-IN" sz="1000" dirty="0"/>
              <a:t>(</a:t>
            </a:r>
            <a:r>
              <a:rPr lang="en-IN" sz="1000" dirty="0" err="1"/>
              <a:t>n_estimators</a:t>
            </a:r>
            <a:r>
              <a:rPr lang="en-IN" sz="1000" dirty="0"/>
              <a:t>=200, </a:t>
            </a:r>
            <a:r>
              <a:rPr lang="en-IN" sz="1000" dirty="0" err="1"/>
              <a:t>random_state</a:t>
            </a:r>
            <a:r>
              <a:rPr lang="en-IN" sz="1000" dirty="0"/>
              <a:t>=42, </a:t>
            </a:r>
            <a:r>
              <a:rPr lang="en-IN" sz="1000" dirty="0" err="1"/>
              <a:t>n_jobs</a:t>
            </a:r>
            <a:r>
              <a:rPr lang="en-IN" sz="1000" dirty="0"/>
              <a:t>=-1))]),</a:t>
            </a:r>
          </a:p>
          <a:p>
            <a:r>
              <a:rPr lang="en-IN" sz="1000" dirty="0"/>
              <a:t>    '</a:t>
            </a:r>
            <a:r>
              <a:rPr lang="en-IN" sz="1000" dirty="0" err="1"/>
              <a:t>XGBoost</a:t>
            </a:r>
            <a:r>
              <a:rPr lang="en-IN" sz="1000" dirty="0"/>
              <a:t>': Pipeline([('pre', preprocessor), ('model', </a:t>
            </a:r>
            <a:r>
              <a:rPr lang="en-IN" sz="1000" dirty="0" err="1"/>
              <a:t>XGBRegressor</a:t>
            </a:r>
            <a:r>
              <a:rPr lang="en-IN" sz="1000" dirty="0"/>
              <a:t>(</a:t>
            </a:r>
            <a:r>
              <a:rPr lang="en-IN" sz="1000" dirty="0" err="1"/>
              <a:t>n_estimators</a:t>
            </a:r>
            <a:r>
              <a:rPr lang="en-IN" sz="1000" dirty="0"/>
              <a:t>=200, </a:t>
            </a:r>
            <a:r>
              <a:rPr lang="en-IN" sz="1000" dirty="0" err="1"/>
              <a:t>random_state</a:t>
            </a:r>
            <a:r>
              <a:rPr lang="en-IN" sz="1000" dirty="0"/>
              <a:t>=42, </a:t>
            </a:r>
            <a:r>
              <a:rPr lang="en-IN" sz="1000" dirty="0" err="1"/>
              <a:t>n_jobs</a:t>
            </a:r>
            <a:r>
              <a:rPr lang="en-IN" sz="1000" dirty="0"/>
              <a:t>=1, verbosity=0))])</a:t>
            </a:r>
          </a:p>
          <a:p>
            <a:r>
              <a:rPr lang="en-IN" sz="1000" dirty="0"/>
              <a:t>}</a:t>
            </a:r>
          </a:p>
          <a:p>
            <a:r>
              <a:rPr lang="en-IN" sz="1000" dirty="0"/>
              <a:t># ----------------------</a:t>
            </a:r>
          </a:p>
          <a:p>
            <a:r>
              <a:rPr lang="en-IN" sz="1000" dirty="0"/>
              <a:t># 8) Train and evaluate</a:t>
            </a:r>
          </a:p>
          <a:p>
            <a:r>
              <a:rPr lang="en-IN" sz="1000" dirty="0"/>
              <a:t># -----------------------</a:t>
            </a:r>
          </a:p>
          <a:p>
            <a:r>
              <a:rPr lang="en-IN" sz="1000" dirty="0"/>
              <a:t>results = []</a:t>
            </a:r>
          </a:p>
          <a:p>
            <a:r>
              <a:rPr lang="en-IN" sz="1000" dirty="0"/>
              <a:t>for name, pipe in </a:t>
            </a:r>
            <a:r>
              <a:rPr lang="en-IN" sz="1000" dirty="0" err="1"/>
              <a:t>models.items</a:t>
            </a:r>
            <a:r>
              <a:rPr lang="en-IN" sz="1000" dirty="0"/>
              <a:t>():</a:t>
            </a:r>
          </a:p>
          <a:p>
            <a:r>
              <a:rPr lang="en-IN" sz="1000" dirty="0"/>
              <a:t>    print(f"\</a:t>
            </a:r>
            <a:r>
              <a:rPr lang="en-IN" sz="1000" dirty="0" err="1"/>
              <a:t>nTraining</a:t>
            </a:r>
            <a:r>
              <a:rPr lang="en-IN" sz="1000" dirty="0"/>
              <a:t> {name} ...")</a:t>
            </a:r>
          </a:p>
          <a:p>
            <a:r>
              <a:rPr lang="en-IN" sz="1000" dirty="0"/>
              <a:t>    </a:t>
            </a:r>
            <a:r>
              <a:rPr lang="en-IN" sz="1000" dirty="0" err="1"/>
              <a:t>pipe.fit</a:t>
            </a:r>
            <a:r>
              <a:rPr lang="en-IN" sz="1000" dirty="0"/>
              <a:t>(</a:t>
            </a:r>
            <a:r>
              <a:rPr lang="en-IN" sz="1000" dirty="0" err="1"/>
              <a:t>X_train</a:t>
            </a:r>
            <a:r>
              <a:rPr lang="en-IN" sz="1000" dirty="0"/>
              <a:t>, </a:t>
            </a:r>
            <a:r>
              <a:rPr lang="en-IN" sz="1000" dirty="0" err="1"/>
              <a:t>y_train</a:t>
            </a:r>
            <a:r>
              <a:rPr lang="en-IN" sz="1000" dirty="0"/>
              <a:t>)</a:t>
            </a:r>
          </a:p>
          <a:p>
            <a:r>
              <a:rPr lang="en-IN" sz="1000" dirty="0"/>
              <a:t>    </a:t>
            </a:r>
            <a:r>
              <a:rPr lang="en-IN" sz="1000" dirty="0" err="1"/>
              <a:t>y_pred</a:t>
            </a:r>
            <a:r>
              <a:rPr lang="en-IN" sz="1000" dirty="0"/>
              <a:t> = </a:t>
            </a:r>
            <a:r>
              <a:rPr lang="en-IN" sz="1000" dirty="0" err="1"/>
              <a:t>pipe.predict</a:t>
            </a:r>
            <a:r>
              <a:rPr lang="en-IN" sz="1000" dirty="0"/>
              <a:t>(</a:t>
            </a:r>
            <a:r>
              <a:rPr lang="en-IN" sz="1000" dirty="0" err="1"/>
              <a:t>X_test</a:t>
            </a:r>
            <a:r>
              <a:rPr lang="en-IN" sz="1000" dirty="0"/>
              <a:t>)</a:t>
            </a:r>
          </a:p>
          <a:p>
            <a:r>
              <a:rPr lang="en-IN" sz="1000" dirty="0"/>
              <a:t>    </a:t>
            </a:r>
            <a:r>
              <a:rPr lang="en-IN" sz="1000" dirty="0" err="1"/>
              <a:t>rmse</a:t>
            </a:r>
            <a:r>
              <a:rPr lang="en-IN" sz="1000" dirty="0"/>
              <a:t> = </a:t>
            </a:r>
            <a:r>
              <a:rPr lang="en-IN" sz="1000" dirty="0" err="1"/>
              <a:t>np.sqrt</a:t>
            </a:r>
            <a:r>
              <a:rPr lang="en-IN" sz="1000" dirty="0"/>
              <a:t>(</a:t>
            </a:r>
            <a:r>
              <a:rPr lang="en-IN" sz="1000" dirty="0" err="1"/>
              <a:t>mean_squared_error</a:t>
            </a:r>
            <a:r>
              <a:rPr lang="en-IN" sz="1000" dirty="0"/>
              <a:t>(</a:t>
            </a:r>
            <a:r>
              <a:rPr lang="en-IN" sz="1000" dirty="0" err="1"/>
              <a:t>y_test</a:t>
            </a:r>
            <a:r>
              <a:rPr lang="en-IN" sz="1000" dirty="0"/>
              <a:t>, </a:t>
            </a:r>
            <a:r>
              <a:rPr lang="en-IN" sz="1000" dirty="0" err="1"/>
              <a:t>y_pred</a:t>
            </a:r>
            <a:r>
              <a:rPr lang="en-IN" sz="1000" dirty="0"/>
              <a:t>)) # Fixed: Removed 'squared=False' for compatibility</a:t>
            </a:r>
          </a:p>
          <a:p>
            <a:r>
              <a:rPr lang="en-IN" sz="1000" dirty="0"/>
              <a:t>    r2 = r2_score(</a:t>
            </a:r>
            <a:r>
              <a:rPr lang="en-IN" sz="1000" dirty="0" err="1"/>
              <a:t>y_test</a:t>
            </a:r>
            <a:r>
              <a:rPr lang="en-IN" sz="1000" dirty="0"/>
              <a:t>, </a:t>
            </a:r>
            <a:r>
              <a:rPr lang="en-IN" sz="1000" dirty="0" err="1"/>
              <a:t>y_pred</a:t>
            </a:r>
            <a:r>
              <a:rPr lang="en-IN" sz="1000" dirty="0"/>
              <a:t>)</a:t>
            </a:r>
          </a:p>
          <a:p>
            <a:r>
              <a:rPr lang="en-IN" sz="1000" dirty="0"/>
              <a:t>    </a:t>
            </a:r>
            <a:r>
              <a:rPr lang="en-IN" sz="1000" dirty="0" err="1"/>
              <a:t>results.append</a:t>
            </a:r>
            <a:r>
              <a:rPr lang="en-IN" sz="1000" dirty="0"/>
              <a:t>({'model': name, 'RMSE': </a:t>
            </a:r>
            <a:r>
              <a:rPr lang="en-IN" sz="1000" dirty="0" err="1"/>
              <a:t>rmse</a:t>
            </a:r>
            <a:r>
              <a:rPr lang="en-IN" sz="1000" dirty="0"/>
              <a:t>, 'R2': r2})</a:t>
            </a:r>
          </a:p>
          <a:p>
            <a:r>
              <a:rPr lang="en-IN" sz="1000" dirty="0"/>
              <a:t>    print(f"{name} -&gt; RMSE: {rmse:,.2f}, R²: {r2:.4f}")</a:t>
            </a:r>
          </a:p>
          <a:p>
            <a:br>
              <a:rPr lang="en-IN" sz="1000" dirty="0"/>
            </a:br>
            <a:endParaRPr lang="en-IN" sz="1000" dirty="0"/>
          </a:p>
          <a:p>
            <a:r>
              <a:rPr lang="en-IN" sz="1000" dirty="0" err="1"/>
              <a:t>results_df</a:t>
            </a:r>
            <a:r>
              <a:rPr lang="en-IN" sz="1000" dirty="0"/>
              <a:t> = </a:t>
            </a:r>
            <a:r>
              <a:rPr lang="en-IN" sz="1000" dirty="0" err="1"/>
              <a:t>pd.DataFrame</a:t>
            </a:r>
            <a:r>
              <a:rPr lang="en-IN" sz="1000" dirty="0"/>
              <a:t>(results).</a:t>
            </a:r>
            <a:r>
              <a:rPr lang="en-IN" sz="1000" dirty="0" err="1"/>
              <a:t>sort_values</a:t>
            </a:r>
            <a:r>
              <a:rPr lang="en-IN" sz="1000" dirty="0"/>
              <a:t>('RMSE')</a:t>
            </a:r>
          </a:p>
          <a:p>
            <a:r>
              <a:rPr lang="en-IN" sz="1000" dirty="0"/>
              <a:t>print("\n=== Model Comparison ===")</a:t>
            </a:r>
          </a:p>
          <a:p>
            <a:r>
              <a:rPr lang="en-IN" sz="1000" dirty="0"/>
              <a:t>print(</a:t>
            </a:r>
            <a:r>
              <a:rPr lang="en-IN" sz="1000" dirty="0" err="1"/>
              <a:t>results_df</a:t>
            </a:r>
            <a:r>
              <a:rPr lang="en-IN" sz="1000" dirty="0"/>
              <a:t>)</a:t>
            </a:r>
          </a:p>
          <a:p>
            <a:br>
              <a:rPr lang="en-IN" sz="1000" dirty="0"/>
            </a:br>
            <a:endParaRPr lang="en-IN" sz="1000" dirty="0"/>
          </a:p>
          <a:p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882656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8A3493-F5DF-439C-57CF-F6DAF4BC6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245806"/>
            <a:ext cx="7487265" cy="5392994"/>
          </a:xfrm>
        </p:spPr>
        <p:txBody>
          <a:bodyPr>
            <a:normAutofit fontScale="25000" lnSpcReduction="20000"/>
          </a:bodyPr>
          <a:lstStyle/>
          <a:p>
            <a:r>
              <a:rPr lang="en-IN" sz="3600" dirty="0"/>
              <a:t># 9) Cross-validated RMSE (5-fold) for more robust comparison</a:t>
            </a:r>
          </a:p>
          <a:p>
            <a:r>
              <a:rPr lang="en-IN" sz="3600" dirty="0"/>
              <a:t># -----------------------</a:t>
            </a:r>
          </a:p>
          <a:p>
            <a:r>
              <a:rPr lang="en-IN" sz="3600" dirty="0"/>
              <a:t>from </a:t>
            </a:r>
            <a:r>
              <a:rPr lang="en-IN" sz="3600" dirty="0" err="1"/>
              <a:t>sklearn.model_selection</a:t>
            </a:r>
            <a:r>
              <a:rPr lang="en-IN" sz="3600" dirty="0"/>
              <a:t> import </a:t>
            </a:r>
            <a:r>
              <a:rPr lang="en-IN" sz="3600" dirty="0" err="1"/>
              <a:t>cross_val_score</a:t>
            </a:r>
            <a:endParaRPr lang="en-IN" sz="3600" dirty="0"/>
          </a:p>
          <a:p>
            <a:r>
              <a:rPr lang="en-IN" sz="3600" dirty="0" err="1"/>
              <a:t>cv_results</a:t>
            </a:r>
            <a:r>
              <a:rPr lang="en-IN" sz="3600" dirty="0"/>
              <a:t> = []</a:t>
            </a:r>
          </a:p>
          <a:p>
            <a:r>
              <a:rPr lang="en-IN" sz="3600" dirty="0"/>
              <a:t>for name, pipe in </a:t>
            </a:r>
            <a:r>
              <a:rPr lang="en-IN" sz="3600" dirty="0" err="1"/>
              <a:t>models.items</a:t>
            </a:r>
            <a:r>
              <a:rPr lang="en-IN" sz="3600" dirty="0"/>
              <a:t>():</a:t>
            </a:r>
          </a:p>
          <a:p>
            <a:r>
              <a:rPr lang="en-IN" sz="3600" dirty="0"/>
              <a:t>    # We'll use negative MSE scoring then convert</a:t>
            </a:r>
          </a:p>
          <a:p>
            <a:r>
              <a:rPr lang="en-IN" sz="3600" dirty="0"/>
              <a:t>    </a:t>
            </a:r>
            <a:r>
              <a:rPr lang="en-IN" sz="3600" dirty="0" err="1"/>
              <a:t>neg_mse_scores</a:t>
            </a:r>
            <a:r>
              <a:rPr lang="en-IN" sz="3600" dirty="0"/>
              <a:t> = </a:t>
            </a:r>
            <a:r>
              <a:rPr lang="en-IN" sz="3600" dirty="0" err="1"/>
              <a:t>cross_val_score</a:t>
            </a:r>
            <a:r>
              <a:rPr lang="en-IN" sz="3600" dirty="0"/>
              <a:t>(pipe, </a:t>
            </a:r>
            <a:r>
              <a:rPr lang="en-IN" sz="3600" dirty="0" err="1"/>
              <a:t>df</a:t>
            </a:r>
            <a:r>
              <a:rPr lang="en-IN" sz="3600" dirty="0"/>
              <a:t>, </a:t>
            </a:r>
            <a:r>
              <a:rPr lang="en-IN" sz="3600" dirty="0" err="1"/>
              <a:t>y_raw</a:t>
            </a:r>
            <a:r>
              <a:rPr lang="en-IN" sz="3600" dirty="0"/>
              <a:t>, cv=5, scoring='</a:t>
            </a:r>
            <a:r>
              <a:rPr lang="en-IN" sz="3600" dirty="0" err="1"/>
              <a:t>neg_mean_squared_error</a:t>
            </a:r>
            <a:r>
              <a:rPr lang="en-IN" sz="3600" dirty="0"/>
              <a:t>', </a:t>
            </a:r>
            <a:r>
              <a:rPr lang="en-IN" sz="3600" dirty="0" err="1"/>
              <a:t>n_jobs</a:t>
            </a:r>
            <a:r>
              <a:rPr lang="en-IN" sz="3600" dirty="0"/>
              <a:t>=-1)</a:t>
            </a:r>
          </a:p>
          <a:p>
            <a:r>
              <a:rPr lang="en-IN" sz="3600" dirty="0"/>
              <a:t>    </a:t>
            </a:r>
            <a:r>
              <a:rPr lang="en-IN" sz="3600" dirty="0" err="1"/>
              <a:t>rmse_scores</a:t>
            </a:r>
            <a:r>
              <a:rPr lang="en-IN" sz="3600" dirty="0"/>
              <a:t> = </a:t>
            </a:r>
            <a:r>
              <a:rPr lang="en-IN" sz="3600" dirty="0" err="1"/>
              <a:t>np.sqrt</a:t>
            </a:r>
            <a:r>
              <a:rPr lang="en-IN" sz="3600" dirty="0"/>
              <a:t>(-</a:t>
            </a:r>
            <a:r>
              <a:rPr lang="en-IN" sz="3600" dirty="0" err="1"/>
              <a:t>neg_mse_scores</a:t>
            </a:r>
            <a:r>
              <a:rPr lang="en-IN" sz="3600" dirty="0"/>
              <a:t>)</a:t>
            </a:r>
          </a:p>
          <a:p>
            <a:r>
              <a:rPr lang="en-IN" sz="3600" dirty="0"/>
              <a:t>    </a:t>
            </a:r>
            <a:r>
              <a:rPr lang="en-IN" sz="3600" dirty="0" err="1"/>
              <a:t>cv_results.append</a:t>
            </a:r>
            <a:r>
              <a:rPr lang="en-IN" sz="3600" dirty="0"/>
              <a:t>({'model': name, '</a:t>
            </a:r>
            <a:r>
              <a:rPr lang="en-IN" sz="3600" dirty="0" err="1"/>
              <a:t>RMSE_Mean</a:t>
            </a:r>
            <a:r>
              <a:rPr lang="en-IN" sz="3600" dirty="0"/>
              <a:t>': </a:t>
            </a:r>
            <a:r>
              <a:rPr lang="en-IN" sz="3600" dirty="0" err="1"/>
              <a:t>rmse_scores.mean</a:t>
            </a:r>
            <a:r>
              <a:rPr lang="en-IN" sz="3600" dirty="0"/>
              <a:t>(), 'RMSE_STD': </a:t>
            </a:r>
            <a:r>
              <a:rPr lang="en-IN" sz="3600" dirty="0" err="1"/>
              <a:t>rmse_scores.std</a:t>
            </a:r>
            <a:r>
              <a:rPr lang="en-IN" sz="3600" dirty="0"/>
              <a:t>()})</a:t>
            </a:r>
          </a:p>
          <a:p>
            <a:r>
              <a:rPr lang="en-IN" sz="3600" dirty="0" err="1"/>
              <a:t>cv_df</a:t>
            </a:r>
            <a:r>
              <a:rPr lang="en-IN" sz="3600" dirty="0"/>
              <a:t> = </a:t>
            </a:r>
            <a:r>
              <a:rPr lang="en-IN" sz="3600" dirty="0" err="1"/>
              <a:t>pd.DataFrame</a:t>
            </a:r>
            <a:r>
              <a:rPr lang="en-IN" sz="3600" dirty="0"/>
              <a:t>(</a:t>
            </a:r>
            <a:r>
              <a:rPr lang="en-IN" sz="3600" dirty="0" err="1"/>
              <a:t>cv_results</a:t>
            </a:r>
            <a:r>
              <a:rPr lang="en-IN" sz="3600" dirty="0"/>
              <a:t>).</a:t>
            </a:r>
            <a:r>
              <a:rPr lang="en-IN" sz="3600" dirty="0" err="1"/>
              <a:t>sort_values</a:t>
            </a:r>
            <a:r>
              <a:rPr lang="en-IN" sz="3600" dirty="0"/>
              <a:t>('</a:t>
            </a:r>
            <a:r>
              <a:rPr lang="en-IN" sz="3600" dirty="0" err="1"/>
              <a:t>RMSE_Mean</a:t>
            </a:r>
            <a:r>
              <a:rPr lang="en-IN" sz="3600" dirty="0"/>
              <a:t>')</a:t>
            </a:r>
          </a:p>
          <a:p>
            <a:r>
              <a:rPr lang="en-IN" sz="3600" dirty="0"/>
              <a:t>print("\n=== Cross-validated RMSE (5-fold) ===")</a:t>
            </a:r>
          </a:p>
          <a:p>
            <a:r>
              <a:rPr lang="en-IN" sz="3600" dirty="0"/>
              <a:t>print(</a:t>
            </a:r>
            <a:r>
              <a:rPr lang="en-IN" sz="3600" dirty="0" err="1"/>
              <a:t>cv_df</a:t>
            </a:r>
            <a:r>
              <a:rPr lang="en-IN" sz="3600" dirty="0"/>
              <a:t>)</a:t>
            </a:r>
          </a:p>
          <a:p>
            <a:endParaRPr lang="en-IN" sz="1000" dirty="0"/>
          </a:p>
          <a:p>
            <a:r>
              <a:rPr lang="en-IN" dirty="0"/>
              <a:t>10) Feature importance (Random Forest &amp; </a:t>
            </a:r>
            <a:r>
              <a:rPr lang="en-IN" dirty="0" err="1"/>
              <a:t>XGBoost</a:t>
            </a:r>
            <a:r>
              <a:rPr lang="en-IN" dirty="0"/>
              <a:t>)</a:t>
            </a:r>
          </a:p>
          <a:p>
            <a:r>
              <a:rPr lang="en-IN" dirty="0"/>
              <a:t># -----------------------</a:t>
            </a:r>
          </a:p>
          <a:p>
            <a:r>
              <a:rPr lang="en-IN" dirty="0"/>
              <a:t># Get feature names after preprocessing</a:t>
            </a:r>
          </a:p>
          <a:p>
            <a:r>
              <a:rPr lang="en-IN" dirty="0" err="1"/>
              <a:t>preprocessor.fit</a:t>
            </a:r>
            <a:r>
              <a:rPr lang="en-IN" dirty="0"/>
              <a:t>(</a:t>
            </a:r>
            <a:r>
              <a:rPr lang="en-IN" dirty="0" err="1"/>
              <a:t>X_train</a:t>
            </a:r>
            <a:r>
              <a:rPr lang="en-IN" dirty="0"/>
              <a:t>)</a:t>
            </a:r>
          </a:p>
          <a:p>
            <a:r>
              <a:rPr lang="en-IN" dirty="0"/>
              <a:t># numeric names preserved, categorical names from one-hot</a:t>
            </a:r>
          </a:p>
          <a:p>
            <a:r>
              <a:rPr lang="en-IN" dirty="0" err="1"/>
              <a:t>ohe</a:t>
            </a:r>
            <a:r>
              <a:rPr lang="en-IN" dirty="0"/>
              <a:t> = </a:t>
            </a:r>
            <a:r>
              <a:rPr lang="en-IN" dirty="0" err="1"/>
              <a:t>preprocessor.named_transformers</a:t>
            </a:r>
            <a:r>
              <a:rPr lang="en-IN" dirty="0"/>
              <a:t>_['cat'].</a:t>
            </a:r>
            <a:r>
              <a:rPr lang="en-IN" dirty="0" err="1"/>
              <a:t>named_steps</a:t>
            </a:r>
            <a:r>
              <a:rPr lang="en-IN" dirty="0"/>
              <a:t>['</a:t>
            </a:r>
            <a:r>
              <a:rPr lang="en-IN" dirty="0" err="1"/>
              <a:t>onehot</a:t>
            </a:r>
            <a:r>
              <a:rPr lang="en-IN" dirty="0"/>
              <a:t>']</a:t>
            </a:r>
          </a:p>
          <a:p>
            <a:r>
              <a:rPr lang="en-IN" dirty="0" err="1"/>
              <a:t>cat_feature_names</a:t>
            </a:r>
            <a:r>
              <a:rPr lang="en-IN" dirty="0"/>
              <a:t> = list(</a:t>
            </a:r>
            <a:r>
              <a:rPr lang="en-IN" dirty="0" err="1"/>
              <a:t>ohe.get_feature_names_out</a:t>
            </a:r>
            <a:r>
              <a:rPr lang="en-IN" dirty="0"/>
              <a:t>(</a:t>
            </a:r>
            <a:r>
              <a:rPr lang="en-IN" dirty="0" err="1"/>
              <a:t>categorical_cols</a:t>
            </a:r>
            <a:r>
              <a:rPr lang="en-IN" dirty="0"/>
              <a:t>))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# Feature names for models trained on transformed data (e.g., </a:t>
            </a:r>
            <a:r>
              <a:rPr lang="en-IN" dirty="0" err="1"/>
              <a:t>RandomForest</a:t>
            </a:r>
            <a:r>
              <a:rPr lang="en-IN" dirty="0"/>
              <a:t> </a:t>
            </a:r>
            <a:r>
              <a:rPr lang="en-IN" dirty="0" err="1"/>
              <a:t>feature_importances</a:t>
            </a:r>
            <a:r>
              <a:rPr lang="en-IN" dirty="0"/>
              <a:t>_)</a:t>
            </a:r>
          </a:p>
          <a:p>
            <a:r>
              <a:rPr lang="en-IN" dirty="0" err="1"/>
              <a:t>transformed_feature_names</a:t>
            </a:r>
            <a:r>
              <a:rPr lang="en-IN" dirty="0"/>
              <a:t> = </a:t>
            </a:r>
            <a:r>
              <a:rPr lang="en-IN" dirty="0" err="1"/>
              <a:t>numeric_cols</a:t>
            </a:r>
            <a:r>
              <a:rPr lang="en-IN" dirty="0"/>
              <a:t> + </a:t>
            </a:r>
            <a:r>
              <a:rPr lang="en-IN" dirty="0" err="1"/>
              <a:t>cat_feature_names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# Random Forest feature importance</a:t>
            </a:r>
          </a:p>
          <a:p>
            <a:r>
              <a:rPr lang="en-IN" dirty="0"/>
              <a:t>rf = models['</a:t>
            </a:r>
            <a:r>
              <a:rPr lang="en-IN" dirty="0" err="1"/>
              <a:t>RandomForest</a:t>
            </a:r>
            <a:r>
              <a:rPr lang="en-IN" dirty="0"/>
              <a:t>'].</a:t>
            </a:r>
            <a:r>
              <a:rPr lang="en-IN" dirty="0" err="1"/>
              <a:t>named_steps</a:t>
            </a:r>
            <a:r>
              <a:rPr lang="en-IN" dirty="0"/>
              <a:t>['model']</a:t>
            </a:r>
          </a:p>
          <a:p>
            <a:r>
              <a:rPr lang="en-IN" dirty="0"/>
              <a:t>importances = </a:t>
            </a:r>
            <a:r>
              <a:rPr lang="en-IN" dirty="0" err="1"/>
              <a:t>rf.feature_importances</a:t>
            </a:r>
            <a:r>
              <a:rPr lang="en-IN" dirty="0"/>
              <a:t>_</a:t>
            </a:r>
          </a:p>
          <a:p>
            <a:r>
              <a:rPr lang="en-IN" dirty="0" err="1"/>
              <a:t>fi_df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({'feature': </a:t>
            </a:r>
            <a:r>
              <a:rPr lang="en-IN" dirty="0" err="1"/>
              <a:t>transformed_feature_names</a:t>
            </a:r>
            <a:r>
              <a:rPr lang="en-IN" dirty="0"/>
              <a:t>, 'importance': importances}).</a:t>
            </a:r>
            <a:r>
              <a:rPr lang="en-IN" dirty="0" err="1"/>
              <a:t>sort_values</a:t>
            </a:r>
            <a:r>
              <a:rPr lang="en-IN" dirty="0"/>
              <a:t>('importance', ascending=False)</a:t>
            </a:r>
          </a:p>
          <a:p>
            <a:r>
              <a:rPr lang="en-IN" dirty="0"/>
              <a:t>print("\</a:t>
            </a:r>
            <a:r>
              <a:rPr lang="en-IN" dirty="0" err="1"/>
              <a:t>nTop</a:t>
            </a:r>
            <a:r>
              <a:rPr lang="en-IN" dirty="0"/>
              <a:t> features (Random Forest):")</a:t>
            </a:r>
          </a:p>
          <a:p>
            <a:r>
              <a:rPr lang="en-IN" dirty="0"/>
              <a:t>print(</a:t>
            </a:r>
            <a:r>
              <a:rPr lang="en-IN" dirty="0" err="1"/>
              <a:t>fi_df.head</a:t>
            </a:r>
            <a:r>
              <a:rPr lang="en-IN" dirty="0"/>
              <a:t>(10))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# Permutation importance on the best model (use the model with lowest CV RMSE)</a:t>
            </a:r>
          </a:p>
          <a:p>
            <a:r>
              <a:rPr lang="en-IN" dirty="0" err="1"/>
              <a:t>best_name</a:t>
            </a:r>
            <a:r>
              <a:rPr lang="en-IN" dirty="0"/>
              <a:t> = </a:t>
            </a:r>
            <a:r>
              <a:rPr lang="en-IN" dirty="0" err="1"/>
              <a:t>cv_df.sort_values</a:t>
            </a:r>
            <a:r>
              <a:rPr lang="en-IN" dirty="0"/>
              <a:t>('</a:t>
            </a:r>
            <a:r>
              <a:rPr lang="en-IN" dirty="0" err="1"/>
              <a:t>RMSE_Mean</a:t>
            </a:r>
            <a:r>
              <a:rPr lang="en-IN" dirty="0"/>
              <a:t>').</a:t>
            </a:r>
            <a:r>
              <a:rPr lang="en-IN" dirty="0" err="1"/>
              <a:t>iloc</a:t>
            </a:r>
            <a:r>
              <a:rPr lang="en-IN" dirty="0"/>
              <a:t>[0]['model']</a:t>
            </a:r>
          </a:p>
          <a:p>
            <a:r>
              <a:rPr lang="en-IN" dirty="0" err="1"/>
              <a:t>best_pipeline</a:t>
            </a:r>
            <a:r>
              <a:rPr lang="en-IN" dirty="0"/>
              <a:t> = models[</a:t>
            </a:r>
            <a:r>
              <a:rPr lang="en-IN" dirty="0" err="1"/>
              <a:t>best_name</a:t>
            </a:r>
            <a:r>
              <a:rPr lang="en-IN" dirty="0"/>
              <a:t>]</a:t>
            </a:r>
          </a:p>
          <a:p>
            <a:r>
              <a:rPr lang="en-IN" dirty="0"/>
              <a:t>print(f"\</a:t>
            </a:r>
            <a:r>
              <a:rPr lang="en-IN" dirty="0" err="1"/>
              <a:t>nComputing</a:t>
            </a:r>
            <a:r>
              <a:rPr lang="en-IN" dirty="0"/>
              <a:t> permutation importance for best model: {</a:t>
            </a:r>
            <a:r>
              <a:rPr lang="en-IN" dirty="0" err="1"/>
              <a:t>best_name</a:t>
            </a:r>
            <a:r>
              <a:rPr lang="en-IN" dirty="0"/>
              <a:t>}")</a:t>
            </a:r>
          </a:p>
          <a:p>
            <a:r>
              <a:rPr lang="en-IN" dirty="0" err="1"/>
              <a:t>best_pipeline.fit</a:t>
            </a:r>
            <a:r>
              <a:rPr lang="en-IN" dirty="0"/>
              <a:t>(</a:t>
            </a:r>
            <a:r>
              <a:rPr lang="en-IN" dirty="0" err="1"/>
              <a:t>X_train</a:t>
            </a:r>
            <a:r>
              <a:rPr lang="en-IN" dirty="0"/>
              <a:t>, </a:t>
            </a:r>
            <a:r>
              <a:rPr lang="en-IN" dirty="0" err="1"/>
              <a:t>y_train</a:t>
            </a:r>
            <a:r>
              <a:rPr lang="en-IN" dirty="0"/>
              <a:t>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# For permutation importance with a pipeline, the permutation is applied to the *original* features of </a:t>
            </a:r>
            <a:r>
              <a:rPr lang="en-IN" dirty="0" err="1"/>
              <a:t>X_test</a:t>
            </a:r>
            <a:r>
              <a:rPr lang="en-IN" dirty="0"/>
              <a:t>.</a:t>
            </a:r>
          </a:p>
          <a:p>
            <a:r>
              <a:rPr lang="en-IN" dirty="0"/>
              <a:t># So, we need to use the original feature names of </a:t>
            </a:r>
            <a:r>
              <a:rPr lang="en-IN" dirty="0" err="1"/>
              <a:t>X_test</a:t>
            </a:r>
            <a:r>
              <a:rPr lang="en-IN" dirty="0"/>
              <a:t>.</a:t>
            </a:r>
          </a:p>
          <a:p>
            <a:r>
              <a:rPr lang="en-IN" dirty="0" err="1"/>
              <a:t>original_X_test_features</a:t>
            </a:r>
            <a:r>
              <a:rPr lang="en-IN" dirty="0"/>
              <a:t> = </a:t>
            </a:r>
            <a:r>
              <a:rPr lang="en-IN" dirty="0" err="1"/>
              <a:t>X_test.columns.tolist</a:t>
            </a:r>
            <a:r>
              <a:rPr lang="en-IN" dirty="0"/>
              <a:t>()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perm = </a:t>
            </a:r>
            <a:r>
              <a:rPr lang="en-IN" dirty="0" err="1"/>
              <a:t>permutation_importance</a:t>
            </a:r>
            <a:r>
              <a:rPr lang="en-IN" dirty="0"/>
              <a:t>(</a:t>
            </a:r>
            <a:r>
              <a:rPr lang="en-IN" dirty="0" err="1"/>
              <a:t>best_pipeline</a:t>
            </a:r>
            <a:r>
              <a:rPr lang="en-IN" dirty="0"/>
              <a:t>, </a:t>
            </a:r>
            <a:r>
              <a:rPr lang="en-IN" dirty="0" err="1"/>
              <a:t>X_test</a:t>
            </a:r>
            <a:r>
              <a:rPr lang="en-IN" dirty="0"/>
              <a:t>, </a:t>
            </a:r>
            <a:r>
              <a:rPr lang="en-IN" dirty="0" err="1"/>
              <a:t>y_test</a:t>
            </a:r>
            <a:r>
              <a:rPr lang="en-IN" dirty="0"/>
              <a:t>, </a:t>
            </a:r>
            <a:r>
              <a:rPr lang="en-IN" dirty="0" err="1"/>
              <a:t>n_repeats</a:t>
            </a:r>
            <a:r>
              <a:rPr lang="en-IN" dirty="0"/>
              <a:t>=10, </a:t>
            </a:r>
            <a:r>
              <a:rPr lang="en-IN" dirty="0" err="1"/>
              <a:t>random_state</a:t>
            </a:r>
            <a:r>
              <a:rPr lang="en-IN" dirty="0"/>
              <a:t>=42, </a:t>
            </a:r>
            <a:r>
              <a:rPr lang="en-IN" dirty="0" err="1"/>
              <a:t>n_jobs</a:t>
            </a:r>
            <a:r>
              <a:rPr lang="en-IN" dirty="0"/>
              <a:t>=-1)</a:t>
            </a:r>
          </a:p>
          <a:p>
            <a:r>
              <a:rPr lang="en-IN" dirty="0" err="1"/>
              <a:t>perm_df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({'feature': </a:t>
            </a:r>
            <a:r>
              <a:rPr lang="en-IN" dirty="0" err="1"/>
              <a:t>original_X_test_features</a:t>
            </a:r>
            <a:r>
              <a:rPr lang="en-IN" dirty="0"/>
              <a:t>, '</a:t>
            </a:r>
            <a:r>
              <a:rPr lang="en-IN" dirty="0" err="1"/>
              <a:t>perm_importance_mean</a:t>
            </a:r>
            <a:r>
              <a:rPr lang="en-IN" dirty="0"/>
              <a:t>': </a:t>
            </a:r>
            <a:r>
              <a:rPr lang="en-IN" dirty="0" err="1"/>
              <a:t>perm.importances_mean</a:t>
            </a:r>
            <a:r>
              <a:rPr lang="en-IN" dirty="0"/>
              <a:t>}).</a:t>
            </a:r>
            <a:r>
              <a:rPr lang="en-IN" dirty="0" err="1"/>
              <a:t>sort_values</a:t>
            </a:r>
            <a:r>
              <a:rPr lang="en-IN" dirty="0"/>
              <a:t>('</a:t>
            </a:r>
            <a:r>
              <a:rPr lang="en-IN" dirty="0" err="1"/>
              <a:t>perm_importance_mean</a:t>
            </a:r>
            <a:r>
              <a:rPr lang="en-IN" dirty="0"/>
              <a:t>', ascending=False)</a:t>
            </a:r>
          </a:p>
          <a:p>
            <a:r>
              <a:rPr lang="en-IN" dirty="0"/>
              <a:t>print(</a:t>
            </a:r>
            <a:r>
              <a:rPr lang="en-IN" dirty="0" err="1"/>
              <a:t>perm_df.head</a:t>
            </a:r>
            <a:r>
              <a:rPr lang="en-IN" dirty="0"/>
              <a:t>(10))</a:t>
            </a:r>
          </a:p>
          <a:p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782884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D809E2-D937-A545-7BF6-AB1252F35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864" y="189271"/>
            <a:ext cx="6400800" cy="1752600"/>
          </a:xfrm>
        </p:spPr>
        <p:txBody>
          <a:bodyPr>
            <a:normAutofit fontScale="25000" lnSpcReduction="20000"/>
          </a:bodyPr>
          <a:lstStyle/>
          <a:p>
            <a:r>
              <a:rPr lang="en-IN" dirty="0"/>
              <a:t>11) Plots: Predicted vs Actual (best model), residuals, and model comparison</a:t>
            </a:r>
          </a:p>
          <a:p>
            <a:r>
              <a:rPr lang="en-IN" dirty="0"/>
              <a:t># -----------------------</a:t>
            </a:r>
          </a:p>
          <a:p>
            <a:r>
              <a:rPr lang="en-IN" dirty="0" err="1"/>
              <a:t>best_pred</a:t>
            </a:r>
            <a:r>
              <a:rPr lang="en-IN" dirty="0"/>
              <a:t> = </a:t>
            </a:r>
            <a:r>
              <a:rPr lang="en-IN" dirty="0" err="1"/>
              <a:t>best_pipeline.predict</a:t>
            </a:r>
            <a:r>
              <a:rPr lang="en-IN" dirty="0"/>
              <a:t>(</a:t>
            </a:r>
            <a:r>
              <a:rPr lang="en-IN" dirty="0" err="1"/>
              <a:t>X_test</a:t>
            </a:r>
            <a:r>
              <a:rPr lang="en-IN" dirty="0"/>
              <a:t>)</a:t>
            </a:r>
          </a:p>
          <a:p>
            <a:r>
              <a:rPr lang="en-IN" dirty="0" err="1"/>
              <a:t>plt.figure</a:t>
            </a:r>
            <a:r>
              <a:rPr lang="en-IN" dirty="0"/>
              <a:t>(</a:t>
            </a:r>
            <a:r>
              <a:rPr lang="en-IN" dirty="0" err="1"/>
              <a:t>figsize</a:t>
            </a:r>
            <a:r>
              <a:rPr lang="en-IN" dirty="0"/>
              <a:t>=(6,6))</a:t>
            </a:r>
          </a:p>
          <a:p>
            <a:r>
              <a:rPr lang="en-IN" dirty="0" err="1"/>
              <a:t>plt.scatter</a:t>
            </a:r>
            <a:r>
              <a:rPr lang="en-IN" dirty="0"/>
              <a:t>(</a:t>
            </a:r>
            <a:r>
              <a:rPr lang="en-IN" dirty="0" err="1"/>
              <a:t>y_test</a:t>
            </a:r>
            <a:r>
              <a:rPr lang="en-IN" dirty="0"/>
              <a:t>, </a:t>
            </a:r>
            <a:r>
              <a:rPr lang="en-IN" dirty="0" err="1"/>
              <a:t>best_pred</a:t>
            </a:r>
            <a:r>
              <a:rPr lang="en-IN" dirty="0"/>
              <a:t>, alpha=0.5)</a:t>
            </a:r>
          </a:p>
          <a:p>
            <a:r>
              <a:rPr lang="en-IN" dirty="0" err="1"/>
              <a:t>mn</a:t>
            </a:r>
            <a:r>
              <a:rPr lang="en-IN" dirty="0"/>
              <a:t>, mx = min(</a:t>
            </a:r>
            <a:r>
              <a:rPr lang="en-IN" dirty="0" err="1"/>
              <a:t>y_test.min</a:t>
            </a:r>
            <a:r>
              <a:rPr lang="en-IN" dirty="0"/>
              <a:t>(), </a:t>
            </a:r>
            <a:r>
              <a:rPr lang="en-IN" dirty="0" err="1"/>
              <a:t>best_pred.min</a:t>
            </a:r>
            <a:r>
              <a:rPr lang="en-IN" dirty="0"/>
              <a:t>()), max(</a:t>
            </a:r>
            <a:r>
              <a:rPr lang="en-IN" dirty="0" err="1"/>
              <a:t>y_test.max</a:t>
            </a:r>
            <a:r>
              <a:rPr lang="en-IN" dirty="0"/>
              <a:t>(), </a:t>
            </a:r>
            <a:r>
              <a:rPr lang="en-IN" dirty="0" err="1"/>
              <a:t>best_pred.max</a:t>
            </a:r>
            <a:r>
              <a:rPr lang="en-IN" dirty="0"/>
              <a:t>())</a:t>
            </a:r>
          </a:p>
          <a:p>
            <a:r>
              <a:rPr lang="en-IN" dirty="0" err="1"/>
              <a:t>plt.plot</a:t>
            </a:r>
            <a:r>
              <a:rPr lang="en-IN" dirty="0"/>
              <a:t>([</a:t>
            </a:r>
            <a:r>
              <a:rPr lang="en-IN" dirty="0" err="1"/>
              <a:t>mn</a:t>
            </a:r>
            <a:r>
              <a:rPr lang="en-IN" dirty="0"/>
              <a:t>, mx], [</a:t>
            </a:r>
            <a:r>
              <a:rPr lang="en-IN" dirty="0" err="1"/>
              <a:t>mn</a:t>
            </a:r>
            <a:r>
              <a:rPr lang="en-IN" dirty="0"/>
              <a:t>, mx], 'k--')</a:t>
            </a:r>
          </a:p>
          <a:p>
            <a:r>
              <a:rPr lang="en-IN" dirty="0" err="1"/>
              <a:t>plt.xlabel</a:t>
            </a:r>
            <a:r>
              <a:rPr lang="en-IN" dirty="0"/>
              <a:t>('Actual Median House Value ($)')</a:t>
            </a:r>
          </a:p>
          <a:p>
            <a:r>
              <a:rPr lang="en-IN" dirty="0" err="1"/>
              <a:t>plt.ylabel</a:t>
            </a:r>
            <a:r>
              <a:rPr lang="en-IN" dirty="0"/>
              <a:t>('Predicted Median House Value ($)')</a:t>
            </a:r>
          </a:p>
          <a:p>
            <a:r>
              <a:rPr lang="en-IN" dirty="0" err="1"/>
              <a:t>plt.title</a:t>
            </a:r>
            <a:r>
              <a:rPr lang="en-IN" dirty="0"/>
              <a:t>(</a:t>
            </a:r>
            <a:r>
              <a:rPr lang="en-IN" dirty="0" err="1"/>
              <a:t>f'Predicted</a:t>
            </a:r>
            <a:r>
              <a:rPr lang="en-IN" dirty="0"/>
              <a:t> vs Actual ({</a:t>
            </a:r>
            <a:r>
              <a:rPr lang="en-IN" dirty="0" err="1"/>
              <a:t>best_name</a:t>
            </a:r>
            <a:r>
              <a:rPr lang="en-IN" dirty="0"/>
              <a:t>})')</a:t>
            </a:r>
          </a:p>
          <a:p>
            <a:r>
              <a:rPr lang="en-IN" dirty="0" err="1"/>
              <a:t>plt.grid</a:t>
            </a:r>
            <a:r>
              <a:rPr lang="en-IN" dirty="0"/>
              <a:t>(True)</a:t>
            </a:r>
          </a:p>
          <a:p>
            <a:r>
              <a:rPr lang="en-IN" dirty="0" err="1"/>
              <a:t>plt.tight_layout</a:t>
            </a:r>
            <a:r>
              <a:rPr lang="en-IN" dirty="0"/>
              <a:t>()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# Residuals</a:t>
            </a:r>
          </a:p>
          <a:p>
            <a:r>
              <a:rPr lang="en-IN" dirty="0"/>
              <a:t>residuals = </a:t>
            </a:r>
            <a:r>
              <a:rPr lang="en-IN" dirty="0" err="1"/>
              <a:t>y_test</a:t>
            </a:r>
            <a:r>
              <a:rPr lang="en-IN" dirty="0"/>
              <a:t> - </a:t>
            </a:r>
            <a:r>
              <a:rPr lang="en-IN" dirty="0" err="1"/>
              <a:t>best_pred</a:t>
            </a:r>
            <a:endParaRPr lang="en-IN" dirty="0"/>
          </a:p>
          <a:p>
            <a:r>
              <a:rPr lang="en-IN" dirty="0" err="1"/>
              <a:t>plt.figure</a:t>
            </a:r>
            <a:r>
              <a:rPr lang="en-IN" dirty="0"/>
              <a:t>(</a:t>
            </a:r>
            <a:r>
              <a:rPr lang="en-IN" dirty="0" err="1"/>
              <a:t>figsize</a:t>
            </a:r>
            <a:r>
              <a:rPr lang="en-IN" dirty="0"/>
              <a:t>=(8,4))</a:t>
            </a:r>
          </a:p>
          <a:p>
            <a:r>
              <a:rPr lang="en-IN" dirty="0" err="1"/>
              <a:t>sns.histplot</a:t>
            </a:r>
            <a:r>
              <a:rPr lang="en-IN" dirty="0"/>
              <a:t>(residuals, </a:t>
            </a:r>
            <a:r>
              <a:rPr lang="en-IN" dirty="0" err="1"/>
              <a:t>kde</a:t>
            </a:r>
            <a:r>
              <a:rPr lang="en-IN" dirty="0"/>
              <a:t>=True)</a:t>
            </a:r>
          </a:p>
          <a:p>
            <a:r>
              <a:rPr lang="en-IN" dirty="0" err="1"/>
              <a:t>plt.title</a:t>
            </a:r>
            <a:r>
              <a:rPr lang="en-IN" dirty="0"/>
              <a:t>(</a:t>
            </a:r>
            <a:r>
              <a:rPr lang="en-IN" dirty="0" err="1"/>
              <a:t>f'Residual</a:t>
            </a:r>
            <a:r>
              <a:rPr lang="en-IN" dirty="0"/>
              <a:t> distribution ({</a:t>
            </a:r>
            <a:r>
              <a:rPr lang="en-IN" dirty="0" err="1"/>
              <a:t>best_name</a:t>
            </a:r>
            <a:r>
              <a:rPr lang="en-IN" dirty="0"/>
              <a:t>})')</a:t>
            </a:r>
          </a:p>
          <a:p>
            <a:r>
              <a:rPr lang="en-IN" dirty="0" err="1"/>
              <a:t>plt.xlabel</a:t>
            </a:r>
            <a:r>
              <a:rPr lang="en-IN" dirty="0"/>
              <a:t>('Residual ($)')</a:t>
            </a:r>
          </a:p>
          <a:p>
            <a:r>
              <a:rPr lang="en-IN" dirty="0" err="1"/>
              <a:t>plt.tight_layout</a:t>
            </a:r>
            <a:r>
              <a:rPr lang="en-IN" dirty="0"/>
              <a:t>()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# Model comparison bar chart</a:t>
            </a:r>
          </a:p>
          <a:p>
            <a:r>
              <a:rPr lang="en-IN" dirty="0" err="1"/>
              <a:t>plt.figure</a:t>
            </a:r>
            <a:r>
              <a:rPr lang="en-IN" dirty="0"/>
              <a:t>(</a:t>
            </a:r>
            <a:r>
              <a:rPr lang="en-IN" dirty="0" err="1"/>
              <a:t>figsize</a:t>
            </a:r>
            <a:r>
              <a:rPr lang="en-IN" dirty="0"/>
              <a:t>=(8,4))</a:t>
            </a:r>
          </a:p>
          <a:p>
            <a:r>
              <a:rPr lang="en-IN" dirty="0" err="1"/>
              <a:t>sns.barplot</a:t>
            </a:r>
            <a:r>
              <a:rPr lang="en-IN" dirty="0"/>
              <a:t>(data=</a:t>
            </a:r>
            <a:r>
              <a:rPr lang="en-IN" dirty="0" err="1"/>
              <a:t>results_df</a:t>
            </a:r>
            <a:r>
              <a:rPr lang="en-IN" dirty="0"/>
              <a:t>, x='model', y='RMSE')</a:t>
            </a:r>
          </a:p>
          <a:p>
            <a:r>
              <a:rPr lang="en-IN" dirty="0" err="1"/>
              <a:t>plt.title</a:t>
            </a:r>
            <a:r>
              <a:rPr lang="en-IN" dirty="0"/>
              <a:t>('Test RMSE by Model')</a:t>
            </a:r>
          </a:p>
          <a:p>
            <a:r>
              <a:rPr lang="en-IN" dirty="0" err="1"/>
              <a:t>plt.tight_layout</a:t>
            </a:r>
            <a:r>
              <a:rPr lang="en-IN" dirty="0"/>
              <a:t>()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# -----------------------</a:t>
            </a:r>
          </a:p>
          <a:p>
            <a:r>
              <a:rPr lang="en-IN" dirty="0"/>
              <a:t># 12) Summary table output</a:t>
            </a:r>
          </a:p>
          <a:p>
            <a:r>
              <a:rPr lang="en-IN" dirty="0"/>
              <a:t># -----------------------</a:t>
            </a:r>
          </a:p>
          <a:p>
            <a:r>
              <a:rPr lang="en-IN" dirty="0" err="1"/>
              <a:t>final_table</a:t>
            </a:r>
            <a:r>
              <a:rPr lang="en-IN" dirty="0"/>
              <a:t> = </a:t>
            </a:r>
            <a:r>
              <a:rPr lang="en-IN" dirty="0" err="1"/>
              <a:t>results_df.merge</a:t>
            </a:r>
            <a:r>
              <a:rPr lang="en-IN" dirty="0"/>
              <a:t>(</a:t>
            </a:r>
            <a:r>
              <a:rPr lang="en-IN" dirty="0" err="1"/>
              <a:t>cv_df</a:t>
            </a:r>
            <a:r>
              <a:rPr lang="en-IN" dirty="0"/>
              <a:t>[['</a:t>
            </a:r>
            <a:r>
              <a:rPr lang="en-IN" dirty="0" err="1"/>
              <a:t>model','RMSE_Mean','RMSE_STD</a:t>
            </a:r>
            <a:r>
              <a:rPr lang="en-IN" dirty="0"/>
              <a:t>']], on='model')</a:t>
            </a:r>
          </a:p>
          <a:p>
            <a:r>
              <a:rPr lang="en-IN" dirty="0" err="1"/>
              <a:t>final_table</a:t>
            </a:r>
            <a:r>
              <a:rPr lang="en-IN" dirty="0"/>
              <a:t> = </a:t>
            </a:r>
            <a:r>
              <a:rPr lang="en-IN" dirty="0" err="1"/>
              <a:t>final_table</a:t>
            </a:r>
            <a:r>
              <a:rPr lang="en-IN" dirty="0"/>
              <a:t>[['model','RMSE','R2','RMSE_Mean','RMSE_STD']].</a:t>
            </a:r>
            <a:r>
              <a:rPr lang="en-IN" dirty="0" err="1"/>
              <a:t>sort_values</a:t>
            </a:r>
            <a:r>
              <a:rPr lang="en-IN" dirty="0"/>
              <a:t>('RMSE')</a:t>
            </a:r>
          </a:p>
          <a:p>
            <a:r>
              <a:rPr lang="en-IN" dirty="0"/>
              <a:t>print("\</a:t>
            </a:r>
            <a:r>
              <a:rPr lang="en-IN" dirty="0" err="1"/>
              <a:t>nFinal</a:t>
            </a:r>
            <a:r>
              <a:rPr lang="en-IN" dirty="0"/>
              <a:t> comparison table:")</a:t>
            </a:r>
          </a:p>
          <a:p>
            <a:r>
              <a:rPr lang="en-IN" dirty="0"/>
              <a:t>print(</a:t>
            </a:r>
            <a:r>
              <a:rPr lang="en-IN" dirty="0" err="1"/>
              <a:t>final_table.to_string</a:t>
            </a:r>
            <a:r>
              <a:rPr lang="en-IN" dirty="0"/>
              <a:t>(index=False))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312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E3AADF-DAEC-6657-0D61-42B598387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453" y="944880"/>
            <a:ext cx="3583093" cy="53746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05BDA3-C7EE-A2A7-5EA2-F255AAECB928}"/>
              </a:ext>
            </a:extLst>
          </p:cNvPr>
          <p:cNvSpPr txBox="1"/>
          <p:nvPr/>
        </p:nvSpPr>
        <p:spPr>
          <a:xfrm>
            <a:off x="416559" y="169148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OUTPUT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3872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4E9992-A683-A19A-F3D6-E19719512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10" y="687294"/>
            <a:ext cx="3984522" cy="37755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B2F4A8-FBF5-AE55-8108-04D80448B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96" y="4561186"/>
            <a:ext cx="2413870" cy="210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417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F67396-9D46-A5F9-C34B-C60338110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46" y="137652"/>
            <a:ext cx="3854101" cy="37067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8E44AB-97E7-60AE-4997-BA39BD218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33" y="4129185"/>
            <a:ext cx="5896798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310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🙏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Presented by: </a:t>
            </a:r>
            <a:r>
              <a:rPr lang="en-US" dirty="0"/>
              <a:t>Y Nithya </a:t>
            </a:r>
            <a:r>
              <a:rPr lang="en-US" dirty="0" err="1"/>
              <a:t>kalyani</a:t>
            </a:r>
            <a:endParaRPr dirty="0"/>
          </a:p>
          <a:p>
            <a:r>
              <a:rPr dirty="0"/>
              <a:t>Contact: </a:t>
            </a:r>
            <a:r>
              <a:rPr lang="en-US" dirty="0"/>
              <a:t>nithyakalyani3189@gmail.com</a:t>
            </a:r>
            <a:endParaRPr dirty="0"/>
          </a:p>
          <a:p>
            <a:r>
              <a:rPr dirty="0"/>
              <a:t>LinkedIn: </a:t>
            </a:r>
            <a:r>
              <a:rPr lang="en-IN" dirty="0"/>
              <a:t>www.linkedin.com/in/nithya-kalyani-487344292</a:t>
            </a:r>
            <a:endParaRPr lang="en-US" dirty="0"/>
          </a:p>
          <a:p>
            <a:r>
              <a:rPr dirty="0"/>
              <a:t>GitHub: github.com/</a:t>
            </a:r>
            <a:r>
              <a:rPr lang="en-US" dirty="0"/>
              <a:t>nithya1492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2687</Words>
  <Application>Microsoft Office PowerPoint</Application>
  <PresentationFormat>On-screen Show (4:3)</PresentationFormat>
  <Paragraphs>285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🏠 House Price Prediction Using Machine Learning</vt:lpstr>
      <vt:lpstr>🎯 Problem Statement</vt:lpstr>
      <vt:lpstr>💾 Dataset Overview</vt:lpstr>
      <vt:lpstr>🧹 Data Preprocessing</vt:lpstr>
      <vt:lpstr>🧠 Model Selection</vt:lpstr>
      <vt:lpstr>⚙️ Model Training and Evaluation</vt:lpstr>
      <vt:lpstr>📊 Results &amp; Model Comparison</vt:lpstr>
      <vt:lpstr>🔍 Feature Importance</vt:lpstr>
      <vt:lpstr>📈 Model Visualization</vt:lpstr>
      <vt:lpstr>💡 Key Insights</vt:lpstr>
      <vt:lpstr>🚀 Future Improvements</vt:lpstr>
      <vt:lpstr>🧰 Tools and Technologies</vt:lpstr>
      <vt:lpstr>🏁 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🙏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nithyakalyani3189@outlook.com</cp:lastModifiedBy>
  <cp:revision>3</cp:revision>
  <dcterms:created xsi:type="dcterms:W3CDTF">2013-01-27T09:14:16Z</dcterms:created>
  <dcterms:modified xsi:type="dcterms:W3CDTF">2025-11-12T04:47:03Z</dcterms:modified>
  <cp:category/>
</cp:coreProperties>
</file>